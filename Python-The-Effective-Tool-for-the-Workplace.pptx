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Raleway Extra Bold"/>
      <p:regular r:id="rId22"/>
    </p:embeddedFont>
    <p:embeddedFont>
      <p:font typeface="Raleway Extra Bold"/>
      <p:regular r:id="rId23"/>
    </p:embeddedFont>
    <p:embeddedFont>
      <p:font typeface="Roboto"/>
      <p:regular r:id="rId24"/>
    </p:embeddedFont>
    <p:embeddedFont>
      <p:font typeface="Roboto"/>
      <p:regular r:id="rId25"/>
    </p:embeddedFont>
    <p:embeddedFont>
      <p:font typeface="Roboto"/>
      <p:regular r:id="rId26"/>
    </p:embeddedFont>
    <p:embeddedFont>
      <p:font typeface="Roboto"/>
      <p:regular r:id="rId2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slideLayout" Target="../slideLayouts/slideLayout4.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298978"/>
            <a:ext cx="10674429"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Python: The Effective Tool for the Workplace</a:t>
            </a:r>
            <a:endParaRPr lang="en-US" sz="3900" dirty="0"/>
          </a:p>
        </p:txBody>
      </p:sp>
      <p:sp>
        <p:nvSpPr>
          <p:cNvPr id="3" name="Text 1"/>
          <p:cNvSpPr/>
          <p:nvPr/>
        </p:nvSpPr>
        <p:spPr>
          <a:xfrm>
            <a:off x="793790" y="3216712"/>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Presented by </a:t>
            </a:r>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Rylin Lai (賴瑞霖)</a:t>
            </a:r>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 Sr. Software Engineer @ Trend Micro – Commercial Endpoint. </a:t>
            </a:r>
            <a:endParaRPr lang="en-US" sz="1550" dirty="0"/>
          </a:p>
        </p:txBody>
      </p:sp>
      <p:sp>
        <p:nvSpPr>
          <p:cNvPr id="4" name="Text 2"/>
          <p:cNvSpPr/>
          <p:nvPr/>
        </p:nvSpPr>
        <p:spPr>
          <a:xfrm>
            <a:off x="793790" y="3757493"/>
            <a:ext cx="13042821" cy="317540"/>
          </a:xfrm>
          <a:prstGeom prst="rect">
            <a:avLst/>
          </a:prstGeom>
          <a:noFill/>
          <a:ln/>
        </p:spPr>
        <p:txBody>
          <a:bodyPr wrap="none" lIns="0" tIns="0" rIns="0" bIns="0" rtlCol="0" anchor="t"/>
          <a:lstStyle/>
          <a:p>
            <a:pPr algn="l" indent="0" marL="0">
              <a:lnSpc>
                <a:spcPts val="2500"/>
              </a:lnSpc>
              <a:buNone/>
            </a:pPr>
            <a:endParaRPr lang="en-US" sz="1550" dirty="0"/>
          </a:p>
        </p:txBody>
      </p:sp>
      <p:sp>
        <p:nvSpPr>
          <p:cNvPr id="5" name="Text 3"/>
          <p:cNvSpPr/>
          <p:nvPr/>
        </p:nvSpPr>
        <p:spPr>
          <a:xfrm>
            <a:off x="793790" y="4298275"/>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Expertise:</a:t>
            </a:r>
            <a:endParaRPr lang="en-US" sz="1550" dirty="0"/>
          </a:p>
        </p:txBody>
      </p:sp>
      <p:sp>
        <p:nvSpPr>
          <p:cNvPr id="6" name="Text 4"/>
          <p:cNvSpPr/>
          <p:nvPr/>
        </p:nvSpPr>
        <p:spPr>
          <a:xfrm>
            <a:off x="793790" y="483905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Cloud Native Application Development</a:t>
            </a:r>
            <a:endParaRPr lang="en-US" sz="1550" dirty="0"/>
          </a:p>
        </p:txBody>
      </p:sp>
      <p:sp>
        <p:nvSpPr>
          <p:cNvPr id="7" name="Text 5"/>
          <p:cNvSpPr/>
          <p:nvPr/>
        </p:nvSpPr>
        <p:spPr>
          <a:xfrm>
            <a:off x="793790" y="5226010"/>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Data Streaming Service Development</a:t>
            </a:r>
            <a:endParaRPr lang="en-US" sz="1550" dirty="0"/>
          </a:p>
        </p:txBody>
      </p:sp>
      <p:sp>
        <p:nvSpPr>
          <p:cNvPr id="8" name="Text 6"/>
          <p:cNvSpPr/>
          <p:nvPr/>
        </p:nvSpPr>
        <p:spPr>
          <a:xfrm>
            <a:off x="793790" y="5612963"/>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familiar with golang/python, aws and devops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85850"/>
            <a:ext cx="5630228"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Purpose of This Session</a:t>
            </a:r>
            <a:endParaRPr lang="en-US" sz="3900" dirty="0"/>
          </a:p>
        </p:txBody>
      </p:sp>
      <p:sp>
        <p:nvSpPr>
          <p:cNvPr id="3" name="Text 1"/>
          <p:cNvSpPr/>
          <p:nvPr/>
        </p:nvSpPr>
        <p:spPr>
          <a:xfrm>
            <a:off x="793790" y="2182177"/>
            <a:ext cx="6279356" cy="2381726"/>
          </a:xfrm>
          <a:prstGeom prst="rect">
            <a:avLst/>
          </a:prstGeom>
          <a:noFill/>
          <a:ln/>
        </p:spPr>
        <p:txBody>
          <a:bodyPr wrap="squar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This session is designed to provide you with practical insights into how Python serves as a cornerstone technology in modern enterprise environments. You'll gain a comprehensive understanding of real-world Python applications across development, testing, and operations.</a:t>
            </a:r>
            <a:endParaRPr lang="en-US" sz="1950" dirty="0"/>
          </a:p>
        </p:txBody>
      </p:sp>
      <p:sp>
        <p:nvSpPr>
          <p:cNvPr id="4" name="Text 2"/>
          <p:cNvSpPr/>
          <p:nvPr/>
        </p:nvSpPr>
        <p:spPr>
          <a:xfrm>
            <a:off x="793790" y="4742498"/>
            <a:ext cx="6279356" cy="1587818"/>
          </a:xfrm>
          <a:prstGeom prst="rect">
            <a:avLst/>
          </a:prstGeom>
          <a:noFill/>
          <a:ln/>
        </p:spPr>
        <p:txBody>
          <a:bodyPr wrap="squar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We'll explore a complete technical workflow that demonstrates Python's versatility: from rapid prototyping (POC) to production-ready Go binaries, all validated through Python-based testing infrastructure.</a:t>
            </a:r>
            <a:endParaRPr lang="en-US" sz="1950" dirty="0"/>
          </a:p>
        </p:txBody>
      </p:sp>
      <p:sp>
        <p:nvSpPr>
          <p:cNvPr id="5" name="Text 3"/>
          <p:cNvSpPr/>
          <p:nvPr/>
        </p:nvSpPr>
        <p:spPr>
          <a:xfrm>
            <a:off x="7564874" y="2182177"/>
            <a:ext cx="6279356"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What You'll Experience</a:t>
            </a:r>
            <a:endParaRPr lang="en-US" sz="1950" dirty="0"/>
          </a:p>
        </p:txBody>
      </p:sp>
      <p:sp>
        <p:nvSpPr>
          <p:cNvPr id="6" name="Text 4"/>
          <p:cNvSpPr/>
          <p:nvPr/>
        </p:nvSpPr>
        <p:spPr>
          <a:xfrm>
            <a:off x="7564874" y="2757726"/>
            <a:ext cx="6279356"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Understand common Python use cases in professional settings</a:t>
            </a:r>
            <a:endParaRPr lang="en-US" sz="1550" dirty="0"/>
          </a:p>
        </p:txBody>
      </p:sp>
      <p:sp>
        <p:nvSpPr>
          <p:cNvPr id="7" name="Text 5"/>
          <p:cNvSpPr/>
          <p:nvPr/>
        </p:nvSpPr>
        <p:spPr>
          <a:xfrm>
            <a:off x="7564874" y="3621048"/>
            <a:ext cx="6279356"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See the Python POC → Go binary → Python test workflow in action</a:t>
            </a:r>
            <a:endParaRPr lang="en-US" sz="1550" dirty="0"/>
          </a:p>
        </p:txBody>
      </p:sp>
      <p:sp>
        <p:nvSpPr>
          <p:cNvPr id="8" name="Text 6"/>
          <p:cNvSpPr/>
          <p:nvPr/>
        </p:nvSpPr>
        <p:spPr>
          <a:xfrm>
            <a:off x="7564874" y="4484370"/>
            <a:ext cx="6279356"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Complete three hands-on labs that build a complete technical experience</a:t>
            </a:r>
            <a:endParaRPr lang="en-US" sz="1550" dirty="0"/>
          </a:p>
        </p:txBody>
      </p:sp>
      <p:sp>
        <p:nvSpPr>
          <p:cNvPr id="9" name="Text 7"/>
          <p:cNvSpPr/>
          <p:nvPr/>
        </p:nvSpPr>
        <p:spPr>
          <a:xfrm>
            <a:off x="7564874" y="5347692"/>
            <a:ext cx="6279356"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Hands on Data Lineage analysis using TLSH + DBSCAN</a:t>
            </a:r>
            <a:endParaRPr lang="en-US" sz="1550" dirty="0"/>
          </a:p>
        </p:txBody>
      </p:sp>
      <p:sp>
        <p:nvSpPr>
          <p:cNvPr id="10" name="Text 8"/>
          <p:cNvSpPr/>
          <p:nvPr/>
        </p:nvSpPr>
        <p:spPr>
          <a:xfrm>
            <a:off x="7564874" y="6211014"/>
            <a:ext cx="6279356"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Implement cross-language testing strategies</a:t>
            </a:r>
            <a:endParaRPr lang="en-US" sz="1550" dirty="0"/>
          </a:p>
        </p:txBody>
      </p:sp>
      <p:sp>
        <p:nvSpPr>
          <p:cNvPr id="11" name="Text 9"/>
          <p:cNvSpPr/>
          <p:nvPr/>
        </p:nvSpPr>
        <p:spPr>
          <a:xfrm>
            <a:off x="7564874" y="6677382"/>
            <a:ext cx="6279356"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Set up CI/CD auto-testing pipelines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16625"/>
            <a:ext cx="5618321" cy="527090"/>
          </a:xfrm>
          <a:prstGeom prst="rect">
            <a:avLst/>
          </a:prstGeom>
          <a:noFill/>
          <a:ln/>
        </p:spPr>
        <p:txBody>
          <a:bodyPr wrap="none" lIns="0" tIns="0" rIns="0" bIns="0" rtlCol="0" anchor="t"/>
          <a:lstStyle/>
          <a:p>
            <a:pPr algn="l" indent="0" marL="0">
              <a:lnSpc>
                <a:spcPts val="4150"/>
              </a:lnSpc>
              <a:buNone/>
            </a:pPr>
            <a:r>
              <a:rPr lang="en-US" sz="3300" b="1" dirty="0">
                <a:solidFill>
                  <a:srgbClr val="030303"/>
                </a:solidFill>
                <a:latin typeface="Raleway Extra Bold" pitchFamily="34" charset="0"/>
                <a:ea typeface="Raleway Extra Bold" pitchFamily="34" charset="-122"/>
                <a:cs typeface="Raleway Extra Bold" pitchFamily="34" charset="-120"/>
              </a:rPr>
              <a:t>Why People Choose Python</a:t>
            </a:r>
            <a:endParaRPr lang="en-US" sz="3300" dirty="0"/>
          </a:p>
        </p:txBody>
      </p:sp>
      <p:sp>
        <p:nvSpPr>
          <p:cNvPr id="3" name="Shape 1"/>
          <p:cNvSpPr/>
          <p:nvPr/>
        </p:nvSpPr>
        <p:spPr>
          <a:xfrm>
            <a:off x="793790" y="1481018"/>
            <a:ext cx="6437114" cy="1931551"/>
          </a:xfrm>
          <a:prstGeom prst="roundRect">
            <a:avLst>
              <a:gd name="adj" fmla="val 3668"/>
            </a:avLst>
          </a:prstGeom>
          <a:solidFill>
            <a:srgbClr val="E6E6E6"/>
          </a:solidFill>
          <a:ln w="7620">
            <a:solidFill>
              <a:srgbClr val="CCCCCC"/>
            </a:solidFill>
            <a:prstDash val="solid"/>
          </a:ln>
        </p:spPr>
      </p:sp>
      <p:sp>
        <p:nvSpPr>
          <p:cNvPr id="4" name="Shape 2"/>
          <p:cNvSpPr/>
          <p:nvPr/>
        </p:nvSpPr>
        <p:spPr>
          <a:xfrm>
            <a:off x="970002" y="1657231"/>
            <a:ext cx="506016" cy="506016"/>
          </a:xfrm>
          <a:prstGeom prst="roundRect">
            <a:avLst>
              <a:gd name="adj" fmla="val 18068768"/>
            </a:avLst>
          </a:prstGeom>
          <a:solidFill>
            <a:srgbClr val="030303"/>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09186" y="1796296"/>
            <a:ext cx="227647" cy="227648"/>
          </a:xfrm>
          <a:prstGeom prst="rect">
            <a:avLst/>
          </a:prstGeom>
        </p:spPr>
      </p:pic>
      <p:sp>
        <p:nvSpPr>
          <p:cNvPr id="6" name="Text 3"/>
          <p:cNvSpPr/>
          <p:nvPr/>
        </p:nvSpPr>
        <p:spPr>
          <a:xfrm>
            <a:off x="970002" y="2331839"/>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Simple Syntax</a:t>
            </a:r>
            <a:endParaRPr lang="en-US" sz="1650" dirty="0"/>
          </a:p>
        </p:txBody>
      </p:sp>
      <p:sp>
        <p:nvSpPr>
          <p:cNvPr id="7" name="Text 4"/>
          <p:cNvSpPr/>
          <p:nvPr/>
        </p:nvSpPr>
        <p:spPr>
          <a:xfrm>
            <a:off x="970002" y="2696527"/>
            <a:ext cx="6084689"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Readable, intuitive language design that reduces development time and learning curve for new team members</a:t>
            </a:r>
            <a:endParaRPr lang="en-US" sz="1300" dirty="0"/>
          </a:p>
        </p:txBody>
      </p:sp>
      <p:sp>
        <p:nvSpPr>
          <p:cNvPr id="8" name="Shape 5"/>
          <p:cNvSpPr/>
          <p:nvPr/>
        </p:nvSpPr>
        <p:spPr>
          <a:xfrm>
            <a:off x="7399496" y="1481018"/>
            <a:ext cx="6437114" cy="1931551"/>
          </a:xfrm>
          <a:prstGeom prst="roundRect">
            <a:avLst>
              <a:gd name="adj" fmla="val 3668"/>
            </a:avLst>
          </a:prstGeom>
          <a:solidFill>
            <a:srgbClr val="E6E6E6"/>
          </a:solidFill>
          <a:ln w="7620">
            <a:solidFill>
              <a:srgbClr val="CCCCCC"/>
            </a:solidFill>
            <a:prstDash val="solid"/>
          </a:ln>
        </p:spPr>
      </p:sp>
      <p:sp>
        <p:nvSpPr>
          <p:cNvPr id="9" name="Shape 6"/>
          <p:cNvSpPr/>
          <p:nvPr/>
        </p:nvSpPr>
        <p:spPr>
          <a:xfrm>
            <a:off x="7575709" y="1657231"/>
            <a:ext cx="506016" cy="506016"/>
          </a:xfrm>
          <a:prstGeom prst="roundRect">
            <a:avLst>
              <a:gd name="adj" fmla="val 18068768"/>
            </a:avLst>
          </a:prstGeom>
          <a:solidFill>
            <a:srgbClr val="030303"/>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14893" y="1796296"/>
            <a:ext cx="227647" cy="227648"/>
          </a:xfrm>
          <a:prstGeom prst="rect">
            <a:avLst/>
          </a:prstGeom>
        </p:spPr>
      </p:pic>
      <p:sp>
        <p:nvSpPr>
          <p:cNvPr id="11" name="Text 7"/>
          <p:cNvSpPr/>
          <p:nvPr/>
        </p:nvSpPr>
        <p:spPr>
          <a:xfrm>
            <a:off x="7575709" y="2331839"/>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Thriving Ecosystem</a:t>
            </a:r>
            <a:endParaRPr lang="en-US" sz="1650" dirty="0"/>
          </a:p>
        </p:txBody>
      </p:sp>
      <p:sp>
        <p:nvSpPr>
          <p:cNvPr id="12" name="Text 8"/>
          <p:cNvSpPr/>
          <p:nvPr/>
        </p:nvSpPr>
        <p:spPr>
          <a:xfrm>
            <a:off x="7575709" y="2696527"/>
            <a:ext cx="6084689"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Active open-source community with powerful libraries: NumPy, Pandas, scikit-learn, and thousands more</a:t>
            </a:r>
            <a:endParaRPr lang="en-US" sz="1300" dirty="0"/>
          </a:p>
        </p:txBody>
      </p:sp>
      <p:sp>
        <p:nvSpPr>
          <p:cNvPr id="13" name="Shape 9"/>
          <p:cNvSpPr/>
          <p:nvPr/>
        </p:nvSpPr>
        <p:spPr>
          <a:xfrm>
            <a:off x="793790" y="3581162"/>
            <a:ext cx="6437114" cy="1931551"/>
          </a:xfrm>
          <a:prstGeom prst="roundRect">
            <a:avLst>
              <a:gd name="adj" fmla="val 3668"/>
            </a:avLst>
          </a:prstGeom>
          <a:solidFill>
            <a:srgbClr val="E6E6E6"/>
          </a:solidFill>
          <a:ln w="7620">
            <a:solidFill>
              <a:srgbClr val="CCCCCC"/>
            </a:solidFill>
            <a:prstDash val="solid"/>
          </a:ln>
        </p:spPr>
      </p:sp>
      <p:sp>
        <p:nvSpPr>
          <p:cNvPr id="14" name="Shape 10"/>
          <p:cNvSpPr/>
          <p:nvPr/>
        </p:nvSpPr>
        <p:spPr>
          <a:xfrm>
            <a:off x="970002" y="3757374"/>
            <a:ext cx="506016" cy="506016"/>
          </a:xfrm>
          <a:prstGeom prst="roundRect">
            <a:avLst>
              <a:gd name="adj" fmla="val 18068768"/>
            </a:avLst>
          </a:prstGeom>
          <a:solidFill>
            <a:srgbClr val="030303"/>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09186" y="3896439"/>
            <a:ext cx="227647" cy="227648"/>
          </a:xfrm>
          <a:prstGeom prst="rect">
            <a:avLst/>
          </a:prstGeom>
        </p:spPr>
      </p:pic>
      <p:sp>
        <p:nvSpPr>
          <p:cNvPr id="16" name="Text 11"/>
          <p:cNvSpPr/>
          <p:nvPr/>
        </p:nvSpPr>
        <p:spPr>
          <a:xfrm>
            <a:off x="970002" y="4431983"/>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Rapid Development</a:t>
            </a:r>
            <a:endParaRPr lang="en-US" sz="1650" dirty="0"/>
          </a:p>
        </p:txBody>
      </p:sp>
      <p:sp>
        <p:nvSpPr>
          <p:cNvPr id="17" name="Text 12"/>
          <p:cNvSpPr/>
          <p:nvPr/>
        </p:nvSpPr>
        <p:spPr>
          <a:xfrm>
            <a:off x="970002" y="4796671"/>
            <a:ext cx="6084689"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Fast data processing, analysis, and visualization capabilities that accelerate time-to-insight</a:t>
            </a:r>
            <a:endParaRPr lang="en-US" sz="1300" dirty="0"/>
          </a:p>
        </p:txBody>
      </p:sp>
      <p:sp>
        <p:nvSpPr>
          <p:cNvPr id="18" name="Shape 13"/>
          <p:cNvSpPr/>
          <p:nvPr/>
        </p:nvSpPr>
        <p:spPr>
          <a:xfrm>
            <a:off x="7399496" y="3581162"/>
            <a:ext cx="6437114" cy="1931551"/>
          </a:xfrm>
          <a:prstGeom prst="roundRect">
            <a:avLst>
              <a:gd name="adj" fmla="val 3668"/>
            </a:avLst>
          </a:prstGeom>
          <a:solidFill>
            <a:srgbClr val="E6E6E6"/>
          </a:solidFill>
          <a:ln w="7620">
            <a:solidFill>
              <a:srgbClr val="CCCCCC"/>
            </a:solidFill>
            <a:prstDash val="solid"/>
          </a:ln>
        </p:spPr>
      </p:sp>
      <p:sp>
        <p:nvSpPr>
          <p:cNvPr id="19" name="Shape 14"/>
          <p:cNvSpPr/>
          <p:nvPr/>
        </p:nvSpPr>
        <p:spPr>
          <a:xfrm>
            <a:off x="7575709" y="3757374"/>
            <a:ext cx="506016" cy="506016"/>
          </a:xfrm>
          <a:prstGeom prst="roundRect">
            <a:avLst>
              <a:gd name="adj" fmla="val 18068768"/>
            </a:avLst>
          </a:prstGeom>
          <a:solidFill>
            <a:srgbClr val="030303"/>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14893" y="3896439"/>
            <a:ext cx="227647" cy="227648"/>
          </a:xfrm>
          <a:prstGeom prst="rect">
            <a:avLst/>
          </a:prstGeom>
        </p:spPr>
      </p:pic>
      <p:sp>
        <p:nvSpPr>
          <p:cNvPr id="21" name="Text 15"/>
          <p:cNvSpPr/>
          <p:nvPr/>
        </p:nvSpPr>
        <p:spPr>
          <a:xfrm>
            <a:off x="7575709" y="4431983"/>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Automation Power</a:t>
            </a:r>
            <a:endParaRPr lang="en-US" sz="1650" dirty="0"/>
          </a:p>
        </p:txBody>
      </p:sp>
      <p:sp>
        <p:nvSpPr>
          <p:cNvPr id="22" name="Text 16"/>
          <p:cNvSpPr/>
          <p:nvPr/>
        </p:nvSpPr>
        <p:spPr>
          <a:xfrm>
            <a:off x="7575709" y="4796671"/>
            <a:ext cx="6084689"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Strong testing and automation capabilities with frameworks like pytest, unittest, and mock</a:t>
            </a:r>
            <a:endParaRPr lang="en-US" sz="1300" dirty="0"/>
          </a:p>
        </p:txBody>
      </p:sp>
      <p:sp>
        <p:nvSpPr>
          <p:cNvPr id="23" name="Shape 17"/>
          <p:cNvSpPr/>
          <p:nvPr/>
        </p:nvSpPr>
        <p:spPr>
          <a:xfrm>
            <a:off x="793790" y="5681305"/>
            <a:ext cx="6437114" cy="1931551"/>
          </a:xfrm>
          <a:prstGeom prst="roundRect">
            <a:avLst>
              <a:gd name="adj" fmla="val 3668"/>
            </a:avLst>
          </a:prstGeom>
          <a:solidFill>
            <a:srgbClr val="E6E6E6"/>
          </a:solidFill>
          <a:ln w="7620">
            <a:solidFill>
              <a:srgbClr val="CCCCCC"/>
            </a:solidFill>
            <a:prstDash val="solid"/>
          </a:ln>
        </p:spPr>
      </p:sp>
      <p:sp>
        <p:nvSpPr>
          <p:cNvPr id="24" name="Shape 18"/>
          <p:cNvSpPr/>
          <p:nvPr/>
        </p:nvSpPr>
        <p:spPr>
          <a:xfrm>
            <a:off x="970002" y="5857518"/>
            <a:ext cx="506016" cy="506016"/>
          </a:xfrm>
          <a:prstGeom prst="roundRect">
            <a:avLst>
              <a:gd name="adj" fmla="val 18068768"/>
            </a:avLst>
          </a:prstGeom>
          <a:solidFill>
            <a:srgbClr val="030303"/>
          </a:solidFill>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09186" y="5996583"/>
            <a:ext cx="227647" cy="227648"/>
          </a:xfrm>
          <a:prstGeom prst="rect">
            <a:avLst/>
          </a:prstGeom>
        </p:spPr>
      </p:pic>
      <p:sp>
        <p:nvSpPr>
          <p:cNvPr id="26" name="Text 19"/>
          <p:cNvSpPr/>
          <p:nvPr/>
        </p:nvSpPr>
        <p:spPr>
          <a:xfrm>
            <a:off x="970002" y="6532126"/>
            <a:ext cx="2559963"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Cross-Language Support</a:t>
            </a:r>
            <a:endParaRPr lang="en-US" sz="1650" dirty="0"/>
          </a:p>
        </p:txBody>
      </p:sp>
      <p:sp>
        <p:nvSpPr>
          <p:cNvPr id="27" name="Text 20"/>
          <p:cNvSpPr/>
          <p:nvPr/>
        </p:nvSpPr>
        <p:spPr>
          <a:xfrm>
            <a:off x="970002" y="6896814"/>
            <a:ext cx="6084689"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Seamless integration with C, Go, Rust, and JavaScript for flexible architecture design</a:t>
            </a:r>
            <a:endParaRPr lang="en-US" sz="1300" dirty="0"/>
          </a:p>
        </p:txBody>
      </p:sp>
      <p:sp>
        <p:nvSpPr>
          <p:cNvPr id="28" name="Shape 21"/>
          <p:cNvSpPr/>
          <p:nvPr/>
        </p:nvSpPr>
        <p:spPr>
          <a:xfrm>
            <a:off x="7399496" y="5681305"/>
            <a:ext cx="6437114" cy="1931551"/>
          </a:xfrm>
          <a:prstGeom prst="roundRect">
            <a:avLst>
              <a:gd name="adj" fmla="val 3668"/>
            </a:avLst>
          </a:prstGeom>
          <a:solidFill>
            <a:srgbClr val="E6E6E6"/>
          </a:solidFill>
          <a:ln w="7620">
            <a:solidFill>
              <a:srgbClr val="CCCCCC"/>
            </a:solidFill>
            <a:prstDash val="solid"/>
          </a:ln>
        </p:spPr>
      </p:sp>
      <p:sp>
        <p:nvSpPr>
          <p:cNvPr id="29" name="Shape 22"/>
          <p:cNvSpPr/>
          <p:nvPr/>
        </p:nvSpPr>
        <p:spPr>
          <a:xfrm>
            <a:off x="7575709" y="5857518"/>
            <a:ext cx="506016" cy="506016"/>
          </a:xfrm>
          <a:prstGeom prst="roundRect">
            <a:avLst>
              <a:gd name="adj" fmla="val 18068768"/>
            </a:avLst>
          </a:prstGeom>
          <a:solidFill>
            <a:srgbClr val="030303"/>
          </a:solidFill>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14893" y="5996583"/>
            <a:ext cx="227647" cy="227648"/>
          </a:xfrm>
          <a:prstGeom prst="rect">
            <a:avLst/>
          </a:prstGeom>
        </p:spPr>
      </p:pic>
      <p:sp>
        <p:nvSpPr>
          <p:cNvPr id="31" name="Text 23"/>
          <p:cNvSpPr/>
          <p:nvPr/>
        </p:nvSpPr>
        <p:spPr>
          <a:xfrm>
            <a:off x="7575709" y="6532126"/>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POC Excellence</a:t>
            </a:r>
            <a:endParaRPr lang="en-US" sz="1650" dirty="0"/>
          </a:p>
        </p:txBody>
      </p:sp>
      <p:sp>
        <p:nvSpPr>
          <p:cNvPr id="32" name="Text 24"/>
          <p:cNvSpPr/>
          <p:nvPr/>
        </p:nvSpPr>
        <p:spPr>
          <a:xfrm>
            <a:off x="7575709" y="6896814"/>
            <a:ext cx="6084689" cy="269915"/>
          </a:xfrm>
          <a:prstGeom prst="rect">
            <a:avLst/>
          </a:prstGeom>
          <a:noFill/>
          <a:ln/>
        </p:spPr>
        <p:txBody>
          <a:bodyPr wrap="non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Perfect for proof-of-concepts, rapid experiments, and internal tool development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892" y="452914"/>
            <a:ext cx="3176230" cy="334566"/>
          </a:xfrm>
          <a:prstGeom prst="rect">
            <a:avLst/>
          </a:prstGeom>
          <a:noFill/>
          <a:ln/>
        </p:spPr>
        <p:txBody>
          <a:bodyPr wrap="none" lIns="0" tIns="0" rIns="0" bIns="0" rtlCol="0" anchor="t"/>
          <a:lstStyle/>
          <a:p>
            <a:pPr algn="l" indent="0" marL="0">
              <a:lnSpc>
                <a:spcPts val="2600"/>
              </a:lnSpc>
              <a:buNone/>
            </a:pPr>
            <a:r>
              <a:rPr lang="en-US" sz="2100" b="1" dirty="0">
                <a:solidFill>
                  <a:srgbClr val="030303"/>
                </a:solidFill>
                <a:latin typeface="Raleway Extra Bold" pitchFamily="34" charset="0"/>
                <a:ea typeface="Raleway Extra Bold" pitchFamily="34" charset="-122"/>
                <a:cs typeface="Raleway Extra Bold" pitchFamily="34" charset="-120"/>
              </a:rPr>
              <a:t>Python in the Workplace</a:t>
            </a:r>
            <a:endParaRPr lang="en-US" sz="2100" dirty="0"/>
          </a:p>
        </p:txBody>
      </p:sp>
      <p:sp>
        <p:nvSpPr>
          <p:cNvPr id="3" name="Text 1"/>
          <p:cNvSpPr/>
          <p:nvPr/>
        </p:nvSpPr>
        <p:spPr>
          <a:xfrm>
            <a:off x="658892" y="947976"/>
            <a:ext cx="13312616" cy="428149"/>
          </a:xfrm>
          <a:prstGeom prst="rect">
            <a:avLst/>
          </a:prstGeom>
          <a:noFill/>
          <a:ln/>
        </p:spPr>
        <p:txBody>
          <a:bodyPr wrap="square" lIns="0" tIns="0" rIns="0" bIns="0" rtlCol="0" anchor="t"/>
          <a:lstStyle/>
          <a:p>
            <a:pPr algn="l" indent="0" marL="0">
              <a:lnSpc>
                <a:spcPts val="1650"/>
              </a:lnSpc>
              <a:buNone/>
            </a:pPr>
            <a:r>
              <a:rPr lang="en-US" sz="1050" b="1" dirty="0">
                <a:solidFill>
                  <a:srgbClr val="030303"/>
                </a:solidFill>
                <a:latin typeface="Roboto Bold" pitchFamily="34" charset="0"/>
                <a:ea typeface="Roboto Bold" pitchFamily="34" charset="-122"/>
                <a:cs typeface="Roboto Bold" pitchFamily="34" charset="-120"/>
              </a:rPr>
              <a:t>Python occupies a strategic position in enterprise environments, serving as the glue that connects different systems, languages, and workflows. Its versatility makes it indispensable across multiple domains within any technology organization.</a:t>
            </a:r>
            <a:endParaRPr lang="en-US" sz="1050" dirty="0"/>
          </a:p>
        </p:txBody>
      </p:sp>
      <p:sp>
        <p:nvSpPr>
          <p:cNvPr id="4" name="Shape 2"/>
          <p:cNvSpPr/>
          <p:nvPr/>
        </p:nvSpPr>
        <p:spPr>
          <a:xfrm>
            <a:off x="658892" y="1496497"/>
            <a:ext cx="13312616" cy="1491258"/>
          </a:xfrm>
          <a:prstGeom prst="roundRect">
            <a:avLst>
              <a:gd name="adj" fmla="val 3016"/>
            </a:avLst>
          </a:prstGeom>
          <a:solidFill>
            <a:srgbClr val="FFFFFF"/>
          </a:solidFill>
          <a:ln w="15240">
            <a:solidFill>
              <a:srgbClr val="CCCCCC"/>
            </a:solidFill>
            <a:prstDash val="solid"/>
          </a:ln>
        </p:spPr>
      </p:sp>
      <p:sp>
        <p:nvSpPr>
          <p:cNvPr id="5" name="Shape 3"/>
          <p:cNvSpPr/>
          <p:nvPr/>
        </p:nvSpPr>
        <p:spPr>
          <a:xfrm>
            <a:off x="674132" y="1511737"/>
            <a:ext cx="428268" cy="1460778"/>
          </a:xfrm>
          <a:prstGeom prst="roundRect">
            <a:avLst>
              <a:gd name="adj" fmla="val 6230"/>
            </a:avLst>
          </a:prstGeom>
          <a:solidFill>
            <a:srgbClr val="E6E6E6"/>
          </a:solidFill>
          <a:ln/>
        </p:spPr>
      </p:sp>
      <p:sp>
        <p:nvSpPr>
          <p:cNvPr id="6" name="Text 4"/>
          <p:cNvSpPr/>
          <p:nvPr/>
        </p:nvSpPr>
        <p:spPr>
          <a:xfrm>
            <a:off x="804148" y="2141696"/>
            <a:ext cx="160496" cy="200739"/>
          </a:xfrm>
          <a:prstGeom prst="rect">
            <a:avLst/>
          </a:prstGeom>
          <a:noFill/>
          <a:ln/>
        </p:spPr>
        <p:txBody>
          <a:bodyPr wrap="none" lIns="0" tIns="0" rIns="0" bIns="0" rtlCol="0" anchor="t"/>
          <a:lstStyle/>
          <a:p>
            <a:pPr algn="l" indent="0" marL="0">
              <a:lnSpc>
                <a:spcPts val="1250"/>
              </a:lnSpc>
              <a:buNone/>
            </a:pPr>
            <a:r>
              <a:rPr lang="en-US" sz="1250" b="1" dirty="0">
                <a:solidFill>
                  <a:srgbClr val="030303"/>
                </a:solidFill>
                <a:latin typeface="Raleway Extra Bold" pitchFamily="34" charset="0"/>
                <a:ea typeface="Raleway Extra Bold" pitchFamily="34" charset="-122"/>
                <a:cs typeface="Raleway Extra Bold" pitchFamily="34" charset="-120"/>
              </a:rPr>
              <a:t>1</a:t>
            </a:r>
            <a:endParaRPr lang="en-US" sz="1250" dirty="0"/>
          </a:p>
        </p:txBody>
      </p:sp>
      <p:sp>
        <p:nvSpPr>
          <p:cNvPr id="7" name="Text 5"/>
          <p:cNvSpPr/>
          <p:nvPr/>
        </p:nvSpPr>
        <p:spPr>
          <a:xfrm>
            <a:off x="1209437" y="1618774"/>
            <a:ext cx="12639794" cy="214074"/>
          </a:xfrm>
          <a:prstGeom prst="rect">
            <a:avLst/>
          </a:prstGeom>
          <a:noFill/>
          <a:ln/>
        </p:spPr>
        <p:txBody>
          <a:bodyPr wrap="none" lIns="0" tIns="0" rIns="0" bIns="0" rtlCol="0" anchor="t"/>
          <a:lstStyle/>
          <a:p>
            <a:pPr algn="l" indent="0" marL="0">
              <a:lnSpc>
                <a:spcPts val="1650"/>
              </a:lnSpc>
              <a:buNone/>
            </a:pPr>
            <a:r>
              <a:rPr lang="en-US" sz="1050" b="1" dirty="0">
                <a:solidFill>
                  <a:srgbClr val="030303"/>
                </a:solidFill>
                <a:latin typeface="Roboto Bold" pitchFamily="34" charset="0"/>
                <a:ea typeface="Roboto Bold" pitchFamily="34" charset="-122"/>
                <a:cs typeface="Roboto Bold" pitchFamily="34" charset="-120"/>
              </a:rPr>
              <a:t>Data &amp; Analytics</a:t>
            </a:r>
            <a:endParaRPr lang="en-US" sz="1050" dirty="0"/>
          </a:p>
        </p:txBody>
      </p:sp>
      <p:sp>
        <p:nvSpPr>
          <p:cNvPr id="8" name="Text 6"/>
          <p:cNvSpPr/>
          <p:nvPr/>
        </p:nvSpPr>
        <p:spPr>
          <a:xfrm>
            <a:off x="1209437" y="189702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Log analysis and ETL pipelines</a:t>
            </a:r>
            <a:endParaRPr lang="en-US" sz="800" dirty="0"/>
          </a:p>
        </p:txBody>
      </p:sp>
      <p:sp>
        <p:nvSpPr>
          <p:cNvPr id="9" name="Text 7"/>
          <p:cNvSpPr/>
          <p:nvPr/>
        </p:nvSpPr>
        <p:spPr>
          <a:xfrm>
            <a:off x="1209437" y="214848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Automated report generation</a:t>
            </a:r>
            <a:endParaRPr lang="en-US" sz="800" dirty="0"/>
          </a:p>
        </p:txBody>
      </p:sp>
      <p:sp>
        <p:nvSpPr>
          <p:cNvPr id="10" name="Text 8"/>
          <p:cNvSpPr/>
          <p:nvPr/>
        </p:nvSpPr>
        <p:spPr>
          <a:xfrm>
            <a:off x="1209437" y="239994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Exploratory data analysis (EDA)</a:t>
            </a:r>
            <a:endParaRPr lang="en-US" sz="800" dirty="0"/>
          </a:p>
        </p:txBody>
      </p:sp>
      <p:sp>
        <p:nvSpPr>
          <p:cNvPr id="11" name="Text 9"/>
          <p:cNvSpPr/>
          <p:nvPr/>
        </p:nvSpPr>
        <p:spPr>
          <a:xfrm>
            <a:off x="1209437" y="265140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Rapid model validation and experimentation</a:t>
            </a:r>
            <a:endParaRPr lang="en-US" sz="800" dirty="0"/>
          </a:p>
        </p:txBody>
      </p:sp>
      <p:sp>
        <p:nvSpPr>
          <p:cNvPr id="12" name="Shape 10"/>
          <p:cNvSpPr/>
          <p:nvPr/>
        </p:nvSpPr>
        <p:spPr>
          <a:xfrm>
            <a:off x="658892" y="3094792"/>
            <a:ext cx="13312616" cy="1491258"/>
          </a:xfrm>
          <a:prstGeom prst="roundRect">
            <a:avLst>
              <a:gd name="adj" fmla="val 3016"/>
            </a:avLst>
          </a:prstGeom>
          <a:solidFill>
            <a:srgbClr val="FFFFFF"/>
          </a:solidFill>
          <a:ln w="15240">
            <a:solidFill>
              <a:srgbClr val="CCCCCC"/>
            </a:solidFill>
            <a:prstDash val="solid"/>
          </a:ln>
        </p:spPr>
      </p:sp>
      <p:sp>
        <p:nvSpPr>
          <p:cNvPr id="13" name="Shape 11"/>
          <p:cNvSpPr/>
          <p:nvPr/>
        </p:nvSpPr>
        <p:spPr>
          <a:xfrm>
            <a:off x="674132" y="3110032"/>
            <a:ext cx="428268" cy="1460778"/>
          </a:xfrm>
          <a:prstGeom prst="roundRect">
            <a:avLst>
              <a:gd name="adj" fmla="val 6230"/>
            </a:avLst>
          </a:prstGeom>
          <a:solidFill>
            <a:srgbClr val="E6E6E6"/>
          </a:solidFill>
          <a:ln/>
        </p:spPr>
      </p:sp>
      <p:sp>
        <p:nvSpPr>
          <p:cNvPr id="14" name="Text 12"/>
          <p:cNvSpPr/>
          <p:nvPr/>
        </p:nvSpPr>
        <p:spPr>
          <a:xfrm>
            <a:off x="804148" y="3739991"/>
            <a:ext cx="160496" cy="200739"/>
          </a:xfrm>
          <a:prstGeom prst="rect">
            <a:avLst/>
          </a:prstGeom>
          <a:noFill/>
          <a:ln/>
        </p:spPr>
        <p:txBody>
          <a:bodyPr wrap="none" lIns="0" tIns="0" rIns="0" bIns="0" rtlCol="0" anchor="t"/>
          <a:lstStyle/>
          <a:p>
            <a:pPr algn="l" indent="0" marL="0">
              <a:lnSpc>
                <a:spcPts val="1250"/>
              </a:lnSpc>
              <a:buNone/>
            </a:pPr>
            <a:r>
              <a:rPr lang="en-US" sz="1250" b="1" dirty="0">
                <a:solidFill>
                  <a:srgbClr val="030303"/>
                </a:solidFill>
                <a:latin typeface="Raleway Extra Bold" pitchFamily="34" charset="0"/>
                <a:ea typeface="Raleway Extra Bold" pitchFamily="34" charset="-122"/>
                <a:cs typeface="Raleway Extra Bold" pitchFamily="34" charset="-120"/>
              </a:rPr>
              <a:t>2</a:t>
            </a:r>
            <a:endParaRPr lang="en-US" sz="1250" dirty="0"/>
          </a:p>
        </p:txBody>
      </p:sp>
      <p:sp>
        <p:nvSpPr>
          <p:cNvPr id="15" name="Text 13"/>
          <p:cNvSpPr/>
          <p:nvPr/>
        </p:nvSpPr>
        <p:spPr>
          <a:xfrm>
            <a:off x="1209437" y="3217069"/>
            <a:ext cx="12639794" cy="214074"/>
          </a:xfrm>
          <a:prstGeom prst="rect">
            <a:avLst/>
          </a:prstGeom>
          <a:noFill/>
          <a:ln/>
        </p:spPr>
        <p:txBody>
          <a:bodyPr wrap="none" lIns="0" tIns="0" rIns="0" bIns="0" rtlCol="0" anchor="t"/>
          <a:lstStyle/>
          <a:p>
            <a:pPr algn="l" indent="0" marL="0">
              <a:lnSpc>
                <a:spcPts val="1650"/>
              </a:lnSpc>
              <a:buNone/>
            </a:pPr>
            <a:r>
              <a:rPr lang="en-US" sz="1050" b="1" dirty="0">
                <a:solidFill>
                  <a:srgbClr val="030303"/>
                </a:solidFill>
                <a:latin typeface="Roboto Bold" pitchFamily="34" charset="0"/>
                <a:ea typeface="Roboto Bold" pitchFamily="34" charset="-122"/>
                <a:cs typeface="Roboto Bold" pitchFamily="34" charset="-120"/>
              </a:rPr>
              <a:t>Automation &amp; Scripting</a:t>
            </a:r>
            <a:endParaRPr lang="en-US" sz="1050" dirty="0"/>
          </a:p>
        </p:txBody>
      </p:sp>
      <p:sp>
        <p:nvSpPr>
          <p:cNvPr id="16" name="Text 14"/>
          <p:cNvSpPr/>
          <p:nvPr/>
        </p:nvSpPr>
        <p:spPr>
          <a:xfrm>
            <a:off x="1209437" y="349531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Batch processing workflows</a:t>
            </a:r>
            <a:endParaRPr lang="en-US" sz="800" dirty="0"/>
          </a:p>
        </p:txBody>
      </p:sp>
      <p:sp>
        <p:nvSpPr>
          <p:cNvPr id="17" name="Text 15"/>
          <p:cNvSpPr/>
          <p:nvPr/>
        </p:nvSpPr>
        <p:spPr>
          <a:xfrm>
            <a:off x="1209437" y="374677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API integration and orchestration</a:t>
            </a:r>
            <a:endParaRPr lang="en-US" sz="800" dirty="0"/>
          </a:p>
        </p:txBody>
      </p:sp>
      <p:sp>
        <p:nvSpPr>
          <p:cNvPr id="18" name="Text 16"/>
          <p:cNvSpPr/>
          <p:nvPr/>
        </p:nvSpPr>
        <p:spPr>
          <a:xfrm>
            <a:off x="1209437" y="399823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Infrastructure scripting</a:t>
            </a:r>
            <a:endParaRPr lang="en-US" sz="800" dirty="0"/>
          </a:p>
        </p:txBody>
      </p:sp>
      <p:sp>
        <p:nvSpPr>
          <p:cNvPr id="19" name="Text 17"/>
          <p:cNvSpPr/>
          <p:nvPr/>
        </p:nvSpPr>
        <p:spPr>
          <a:xfrm>
            <a:off x="1209437" y="424969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Internal tool creation</a:t>
            </a:r>
            <a:endParaRPr lang="en-US" sz="800" dirty="0"/>
          </a:p>
        </p:txBody>
      </p:sp>
      <p:sp>
        <p:nvSpPr>
          <p:cNvPr id="20" name="Shape 18"/>
          <p:cNvSpPr/>
          <p:nvPr/>
        </p:nvSpPr>
        <p:spPr>
          <a:xfrm>
            <a:off x="658892" y="4693087"/>
            <a:ext cx="13312616" cy="1491258"/>
          </a:xfrm>
          <a:prstGeom prst="roundRect">
            <a:avLst>
              <a:gd name="adj" fmla="val 3016"/>
            </a:avLst>
          </a:prstGeom>
          <a:solidFill>
            <a:srgbClr val="FFFFFF"/>
          </a:solidFill>
          <a:ln w="15240">
            <a:solidFill>
              <a:srgbClr val="CCCCCC"/>
            </a:solidFill>
            <a:prstDash val="solid"/>
          </a:ln>
        </p:spPr>
      </p:sp>
      <p:sp>
        <p:nvSpPr>
          <p:cNvPr id="21" name="Shape 19"/>
          <p:cNvSpPr/>
          <p:nvPr/>
        </p:nvSpPr>
        <p:spPr>
          <a:xfrm>
            <a:off x="674132" y="4708327"/>
            <a:ext cx="428268" cy="1460778"/>
          </a:xfrm>
          <a:prstGeom prst="roundRect">
            <a:avLst>
              <a:gd name="adj" fmla="val 6230"/>
            </a:avLst>
          </a:prstGeom>
          <a:solidFill>
            <a:srgbClr val="E6E6E6"/>
          </a:solidFill>
          <a:ln/>
        </p:spPr>
      </p:sp>
      <p:sp>
        <p:nvSpPr>
          <p:cNvPr id="22" name="Text 20"/>
          <p:cNvSpPr/>
          <p:nvPr/>
        </p:nvSpPr>
        <p:spPr>
          <a:xfrm>
            <a:off x="804148" y="5338286"/>
            <a:ext cx="160496" cy="200739"/>
          </a:xfrm>
          <a:prstGeom prst="rect">
            <a:avLst/>
          </a:prstGeom>
          <a:noFill/>
          <a:ln/>
        </p:spPr>
        <p:txBody>
          <a:bodyPr wrap="none" lIns="0" tIns="0" rIns="0" bIns="0" rtlCol="0" anchor="t"/>
          <a:lstStyle/>
          <a:p>
            <a:pPr algn="l" indent="0" marL="0">
              <a:lnSpc>
                <a:spcPts val="1250"/>
              </a:lnSpc>
              <a:buNone/>
            </a:pPr>
            <a:r>
              <a:rPr lang="en-US" sz="1250" b="1" dirty="0">
                <a:solidFill>
                  <a:srgbClr val="030303"/>
                </a:solidFill>
                <a:latin typeface="Raleway Extra Bold" pitchFamily="34" charset="0"/>
                <a:ea typeface="Raleway Extra Bold" pitchFamily="34" charset="-122"/>
                <a:cs typeface="Raleway Extra Bold" pitchFamily="34" charset="-120"/>
              </a:rPr>
              <a:t>3</a:t>
            </a:r>
            <a:endParaRPr lang="en-US" sz="1250" dirty="0"/>
          </a:p>
        </p:txBody>
      </p:sp>
      <p:sp>
        <p:nvSpPr>
          <p:cNvPr id="23" name="Text 21"/>
          <p:cNvSpPr/>
          <p:nvPr/>
        </p:nvSpPr>
        <p:spPr>
          <a:xfrm>
            <a:off x="1209437" y="4815364"/>
            <a:ext cx="12639794" cy="214074"/>
          </a:xfrm>
          <a:prstGeom prst="rect">
            <a:avLst/>
          </a:prstGeom>
          <a:noFill/>
          <a:ln/>
        </p:spPr>
        <p:txBody>
          <a:bodyPr wrap="none" lIns="0" tIns="0" rIns="0" bIns="0" rtlCol="0" anchor="t"/>
          <a:lstStyle/>
          <a:p>
            <a:pPr algn="l" indent="0" marL="0">
              <a:lnSpc>
                <a:spcPts val="1650"/>
              </a:lnSpc>
              <a:buNone/>
            </a:pPr>
            <a:r>
              <a:rPr lang="en-US" sz="1050" b="1" dirty="0">
                <a:solidFill>
                  <a:srgbClr val="030303"/>
                </a:solidFill>
                <a:latin typeface="Roboto Bold" pitchFamily="34" charset="0"/>
                <a:ea typeface="Roboto Bold" pitchFamily="34" charset="-122"/>
                <a:cs typeface="Roboto Bold" pitchFamily="34" charset="-120"/>
              </a:rPr>
              <a:t>Testing &amp; QA</a:t>
            </a:r>
            <a:endParaRPr lang="en-US" sz="1050" dirty="0"/>
          </a:p>
        </p:txBody>
      </p:sp>
      <p:sp>
        <p:nvSpPr>
          <p:cNvPr id="24" name="Text 22"/>
          <p:cNvSpPr/>
          <p:nvPr/>
        </p:nvSpPr>
        <p:spPr>
          <a:xfrm>
            <a:off x="1209437" y="509361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Enterprise testing framework backbone</a:t>
            </a:r>
            <a:endParaRPr lang="en-US" sz="800" dirty="0"/>
          </a:p>
        </p:txBody>
      </p:sp>
      <p:sp>
        <p:nvSpPr>
          <p:cNvPr id="25" name="Text 23"/>
          <p:cNvSpPr/>
          <p:nvPr/>
        </p:nvSpPr>
        <p:spPr>
          <a:xfrm>
            <a:off x="1209437" y="534507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pytest, unittest, mock, tox ecosystem</a:t>
            </a:r>
            <a:endParaRPr lang="en-US" sz="800" dirty="0"/>
          </a:p>
        </p:txBody>
      </p:sp>
      <p:sp>
        <p:nvSpPr>
          <p:cNvPr id="26" name="Text 24"/>
          <p:cNvSpPr/>
          <p:nvPr/>
        </p:nvSpPr>
        <p:spPr>
          <a:xfrm>
            <a:off x="1209437" y="559653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Integration and cross-platform testing</a:t>
            </a:r>
            <a:endParaRPr lang="en-US" sz="800" dirty="0"/>
          </a:p>
        </p:txBody>
      </p:sp>
      <p:sp>
        <p:nvSpPr>
          <p:cNvPr id="27" name="Text 25"/>
          <p:cNvSpPr/>
          <p:nvPr/>
        </p:nvSpPr>
        <p:spPr>
          <a:xfrm>
            <a:off x="1209437" y="5847993"/>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Test automation at scale</a:t>
            </a:r>
            <a:endParaRPr lang="en-US" sz="800" dirty="0"/>
          </a:p>
        </p:txBody>
      </p:sp>
      <p:sp>
        <p:nvSpPr>
          <p:cNvPr id="28" name="Shape 26"/>
          <p:cNvSpPr/>
          <p:nvPr/>
        </p:nvSpPr>
        <p:spPr>
          <a:xfrm>
            <a:off x="658892" y="6291382"/>
            <a:ext cx="13312616" cy="1491258"/>
          </a:xfrm>
          <a:prstGeom prst="roundRect">
            <a:avLst>
              <a:gd name="adj" fmla="val 3016"/>
            </a:avLst>
          </a:prstGeom>
          <a:solidFill>
            <a:srgbClr val="FFFFFF"/>
          </a:solidFill>
          <a:ln w="15240">
            <a:solidFill>
              <a:srgbClr val="CCCCCC"/>
            </a:solidFill>
            <a:prstDash val="solid"/>
          </a:ln>
        </p:spPr>
      </p:sp>
      <p:sp>
        <p:nvSpPr>
          <p:cNvPr id="29" name="Shape 27"/>
          <p:cNvSpPr/>
          <p:nvPr/>
        </p:nvSpPr>
        <p:spPr>
          <a:xfrm>
            <a:off x="674132" y="6306622"/>
            <a:ext cx="428268" cy="1460778"/>
          </a:xfrm>
          <a:prstGeom prst="roundRect">
            <a:avLst>
              <a:gd name="adj" fmla="val 6230"/>
            </a:avLst>
          </a:prstGeom>
          <a:solidFill>
            <a:srgbClr val="E6E6E6"/>
          </a:solidFill>
          <a:ln/>
        </p:spPr>
      </p:sp>
      <p:sp>
        <p:nvSpPr>
          <p:cNvPr id="30" name="Text 28"/>
          <p:cNvSpPr/>
          <p:nvPr/>
        </p:nvSpPr>
        <p:spPr>
          <a:xfrm>
            <a:off x="804148" y="6936581"/>
            <a:ext cx="160496" cy="200739"/>
          </a:xfrm>
          <a:prstGeom prst="rect">
            <a:avLst/>
          </a:prstGeom>
          <a:noFill/>
          <a:ln/>
        </p:spPr>
        <p:txBody>
          <a:bodyPr wrap="none" lIns="0" tIns="0" rIns="0" bIns="0" rtlCol="0" anchor="t"/>
          <a:lstStyle/>
          <a:p>
            <a:pPr algn="l" indent="0" marL="0">
              <a:lnSpc>
                <a:spcPts val="1250"/>
              </a:lnSpc>
              <a:buNone/>
            </a:pPr>
            <a:r>
              <a:rPr lang="en-US" sz="1250" b="1" dirty="0">
                <a:solidFill>
                  <a:srgbClr val="030303"/>
                </a:solidFill>
                <a:latin typeface="Raleway Extra Bold" pitchFamily="34" charset="0"/>
                <a:ea typeface="Raleway Extra Bold" pitchFamily="34" charset="-122"/>
                <a:cs typeface="Raleway Extra Bold" pitchFamily="34" charset="-120"/>
              </a:rPr>
              <a:t>4</a:t>
            </a:r>
            <a:endParaRPr lang="en-US" sz="1250" dirty="0"/>
          </a:p>
        </p:txBody>
      </p:sp>
      <p:sp>
        <p:nvSpPr>
          <p:cNvPr id="31" name="Text 29"/>
          <p:cNvSpPr/>
          <p:nvPr/>
        </p:nvSpPr>
        <p:spPr>
          <a:xfrm>
            <a:off x="1209437" y="6413659"/>
            <a:ext cx="12639794" cy="214074"/>
          </a:xfrm>
          <a:prstGeom prst="rect">
            <a:avLst/>
          </a:prstGeom>
          <a:noFill/>
          <a:ln/>
        </p:spPr>
        <p:txBody>
          <a:bodyPr wrap="none" lIns="0" tIns="0" rIns="0" bIns="0" rtlCol="0" anchor="t"/>
          <a:lstStyle/>
          <a:p>
            <a:pPr algn="l" indent="0" marL="0">
              <a:lnSpc>
                <a:spcPts val="1650"/>
              </a:lnSpc>
              <a:buNone/>
            </a:pPr>
            <a:r>
              <a:rPr lang="en-US" sz="1050" b="1" dirty="0">
                <a:solidFill>
                  <a:srgbClr val="030303"/>
                </a:solidFill>
                <a:latin typeface="Roboto Bold" pitchFamily="34" charset="0"/>
                <a:ea typeface="Roboto Bold" pitchFamily="34" charset="-122"/>
                <a:cs typeface="Roboto Bold" pitchFamily="34" charset="-120"/>
              </a:rPr>
              <a:t>DevOps Support</a:t>
            </a:r>
            <a:endParaRPr lang="en-US" sz="1050" dirty="0"/>
          </a:p>
        </p:txBody>
      </p:sp>
      <p:sp>
        <p:nvSpPr>
          <p:cNvPr id="32" name="Text 30"/>
          <p:cNvSpPr/>
          <p:nvPr/>
        </p:nvSpPr>
        <p:spPr>
          <a:xfrm>
            <a:off x="1209437" y="669190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Deployment automation</a:t>
            </a:r>
            <a:endParaRPr lang="en-US" sz="800" dirty="0"/>
          </a:p>
        </p:txBody>
      </p:sp>
      <p:sp>
        <p:nvSpPr>
          <p:cNvPr id="33" name="Text 31"/>
          <p:cNvSpPr/>
          <p:nvPr/>
        </p:nvSpPr>
        <p:spPr>
          <a:xfrm>
            <a:off x="1209437" y="694336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CI validation scripts</a:t>
            </a:r>
            <a:endParaRPr lang="en-US" sz="800" dirty="0"/>
          </a:p>
        </p:txBody>
      </p:sp>
      <p:sp>
        <p:nvSpPr>
          <p:cNvPr id="34" name="Text 32"/>
          <p:cNvSpPr/>
          <p:nvPr/>
        </p:nvSpPr>
        <p:spPr>
          <a:xfrm>
            <a:off x="1209437" y="719482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System health monitoring tools</a:t>
            </a:r>
            <a:endParaRPr lang="en-US" sz="800" dirty="0"/>
          </a:p>
        </p:txBody>
      </p:sp>
      <p:sp>
        <p:nvSpPr>
          <p:cNvPr id="35" name="Text 33"/>
          <p:cNvSpPr/>
          <p:nvPr/>
        </p:nvSpPr>
        <p:spPr>
          <a:xfrm>
            <a:off x="1209437" y="7446288"/>
            <a:ext cx="12639794" cy="214074"/>
          </a:xfrm>
          <a:prstGeom prst="rect">
            <a:avLst/>
          </a:prstGeom>
          <a:noFill/>
          <a:ln/>
        </p:spPr>
        <p:txBody>
          <a:bodyPr wrap="none" lIns="0" tIns="0" rIns="0" bIns="0" rtlCol="0" anchor="t"/>
          <a:lstStyle/>
          <a:p>
            <a:pPr algn="l" marL="342900" indent="-342900">
              <a:lnSpc>
                <a:spcPts val="1300"/>
              </a:lnSpc>
              <a:buSzPct val="100000"/>
              <a:buChar char="•"/>
            </a:pPr>
            <a:r>
              <a:rPr lang="en-US" sz="800" b="1" dirty="0">
                <a:solidFill>
                  <a:srgbClr val="030303"/>
                </a:solidFill>
                <a:latin typeface="Roboto Bold" pitchFamily="34" charset="0"/>
                <a:ea typeface="Roboto Bold" pitchFamily="34" charset="-122"/>
                <a:cs typeface="Roboto Bold" pitchFamily="34" charset="-120"/>
              </a:rPr>
              <a:t>Infrastructure management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10815"/>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Python in DevOps: The Complete Lifecycle</a:t>
            </a:r>
            <a:endParaRPr lang="en-US" sz="3900" dirty="0"/>
          </a:p>
        </p:txBody>
      </p:sp>
      <p:sp>
        <p:nvSpPr>
          <p:cNvPr id="4" name="Text 1"/>
          <p:cNvSpPr/>
          <p:nvPr/>
        </p:nvSpPr>
        <p:spPr>
          <a:xfrm>
            <a:off x="6280190" y="4248626"/>
            <a:ext cx="7556421" cy="127015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Python plays a critical role at every stage of the DevOps lifecycle. Understanding where and how Python fits into each phase helps you leverage its strengths effectively. Let's explore Python's contributions across the eight key stages of modern DevOps practices.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84252"/>
            <a:ext cx="6949440"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DevOps Lifecycle: Stages 1-4</a:t>
            </a:r>
            <a:endParaRPr lang="en-US" sz="3900" dirty="0"/>
          </a:p>
        </p:txBody>
      </p:sp>
      <p:pic>
        <p:nvPicPr>
          <p:cNvPr id="3" name="Image 0" descr="preencoded.png">    </p:cNvPr>
          <p:cNvPicPr>
            <a:picLocks noChangeAspect="1"/>
          </p:cNvPicPr>
          <p:nvPr/>
        </p:nvPicPr>
        <p:blipFill>
          <a:blip r:embed="rId1"/>
          <a:stretch>
            <a:fillRect/>
          </a:stretch>
        </p:blipFill>
        <p:spPr>
          <a:xfrm>
            <a:off x="793790" y="1701165"/>
            <a:ext cx="992267" cy="1461016"/>
          </a:xfrm>
          <a:prstGeom prst="rect">
            <a:avLst/>
          </a:prstGeom>
        </p:spPr>
      </p:pic>
      <p:sp>
        <p:nvSpPr>
          <p:cNvPr id="4" name="Text 1"/>
          <p:cNvSpPr/>
          <p:nvPr/>
        </p:nvSpPr>
        <p:spPr>
          <a:xfrm>
            <a:off x="1984415" y="189952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1: Plan</a:t>
            </a:r>
            <a:endParaRPr lang="en-US" sz="1950" dirty="0"/>
          </a:p>
        </p:txBody>
      </p:sp>
      <p:sp>
        <p:nvSpPr>
          <p:cNvPr id="5" name="Text 2"/>
          <p:cNvSpPr/>
          <p:nvPr/>
        </p:nvSpPr>
        <p:spPr>
          <a:xfrm>
            <a:off x="1984415" y="2328743"/>
            <a:ext cx="11852196" cy="63507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Rapid POC generation, data-driven decision making through log and metrics analysis, notebook-based concept demos for stakeholder alignment</a:t>
            </a:r>
            <a:endParaRPr lang="en-US" sz="1550" dirty="0"/>
          </a:p>
        </p:txBody>
      </p:sp>
      <p:pic>
        <p:nvPicPr>
          <p:cNvPr id="6" name="Image 1" descr="preencoded.png">    </p:cNvPr>
          <p:cNvPicPr>
            <a:picLocks noChangeAspect="1"/>
          </p:cNvPicPr>
          <p:nvPr/>
        </p:nvPicPr>
        <p:blipFill>
          <a:blip r:embed="rId2"/>
          <a:stretch>
            <a:fillRect/>
          </a:stretch>
        </p:blipFill>
        <p:spPr>
          <a:xfrm>
            <a:off x="793790" y="3162181"/>
            <a:ext cx="992267" cy="1461016"/>
          </a:xfrm>
          <a:prstGeom prst="rect">
            <a:avLst/>
          </a:prstGeom>
        </p:spPr>
      </p:pic>
      <p:sp>
        <p:nvSpPr>
          <p:cNvPr id="7" name="Text 3"/>
          <p:cNvSpPr/>
          <p:nvPr/>
        </p:nvSpPr>
        <p:spPr>
          <a:xfrm>
            <a:off x="1984415" y="336053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2: Code</a:t>
            </a:r>
            <a:endParaRPr lang="en-US" sz="1950" dirty="0"/>
          </a:p>
        </p:txBody>
      </p:sp>
      <p:sp>
        <p:nvSpPr>
          <p:cNvPr id="8" name="Text 4"/>
          <p:cNvSpPr/>
          <p:nvPr/>
        </p:nvSpPr>
        <p:spPr>
          <a:xfrm>
            <a:off x="1984415" y="3789759"/>
            <a:ext cx="11852196" cy="63507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Developer tools creation, automated test data generation using faker and random generators, API/webhook simulation, logic POC implementation for reference by production teams</a:t>
            </a:r>
            <a:endParaRPr lang="en-US" sz="1550" dirty="0"/>
          </a:p>
        </p:txBody>
      </p:sp>
      <p:pic>
        <p:nvPicPr>
          <p:cNvPr id="9" name="Image 2" descr="preencoded.png">    </p:cNvPr>
          <p:cNvPicPr>
            <a:picLocks noChangeAspect="1"/>
          </p:cNvPicPr>
          <p:nvPr/>
        </p:nvPicPr>
        <p:blipFill>
          <a:blip r:embed="rId3"/>
          <a:stretch>
            <a:fillRect/>
          </a:stretch>
        </p:blipFill>
        <p:spPr>
          <a:xfrm>
            <a:off x="793790" y="4623197"/>
            <a:ext cx="992267" cy="1461016"/>
          </a:xfrm>
          <a:prstGeom prst="rect">
            <a:avLst/>
          </a:prstGeom>
        </p:spPr>
      </p:pic>
      <p:sp>
        <p:nvSpPr>
          <p:cNvPr id="10" name="Text 5"/>
          <p:cNvSpPr/>
          <p:nvPr/>
        </p:nvSpPr>
        <p:spPr>
          <a:xfrm>
            <a:off x="1984415" y="4821555"/>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3: Build</a:t>
            </a:r>
            <a:endParaRPr lang="en-US" sz="1950" dirty="0"/>
          </a:p>
        </p:txBody>
      </p:sp>
      <p:sp>
        <p:nvSpPr>
          <p:cNvPr id="11" name="Text 6"/>
          <p:cNvSpPr/>
          <p:nvPr/>
        </p:nvSpPr>
        <p:spPr>
          <a:xfrm>
            <a:off x="1984415" y="5250775"/>
            <a:ext cx="11852196" cy="63507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Build pipeline scripting, automated Golang binary packaging, dependency report generation, snapshot metrics creation for version tracking and artifact metadata</a:t>
            </a:r>
            <a:endParaRPr lang="en-US" sz="1550" dirty="0"/>
          </a:p>
        </p:txBody>
      </p:sp>
      <p:pic>
        <p:nvPicPr>
          <p:cNvPr id="12" name="Image 3" descr="preencoded.png">    </p:cNvPr>
          <p:cNvPicPr>
            <a:picLocks noChangeAspect="1"/>
          </p:cNvPicPr>
          <p:nvPr/>
        </p:nvPicPr>
        <p:blipFill>
          <a:blip r:embed="rId4"/>
          <a:stretch>
            <a:fillRect/>
          </a:stretch>
        </p:blipFill>
        <p:spPr>
          <a:xfrm>
            <a:off x="793790" y="6084213"/>
            <a:ext cx="992267" cy="1461016"/>
          </a:xfrm>
          <a:prstGeom prst="rect">
            <a:avLst/>
          </a:prstGeom>
        </p:spPr>
      </p:pic>
      <p:sp>
        <p:nvSpPr>
          <p:cNvPr id="13" name="Text 7"/>
          <p:cNvSpPr/>
          <p:nvPr/>
        </p:nvSpPr>
        <p:spPr>
          <a:xfrm>
            <a:off x="1984415" y="628257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4: Test</a:t>
            </a:r>
            <a:endParaRPr lang="en-US" sz="1950" dirty="0"/>
          </a:p>
        </p:txBody>
      </p:sp>
      <p:sp>
        <p:nvSpPr>
          <p:cNvPr id="14" name="Text 8"/>
          <p:cNvSpPr/>
          <p:nvPr/>
        </p:nvSpPr>
        <p:spPr>
          <a:xfrm>
            <a:off x="1984415" y="6711791"/>
            <a:ext cx="11852196" cy="63507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pytest as unified testing platform, cross-language test execution, enterprise-grade fixtures and parametrization, API/CLI/REST validation automation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0733"/>
            <a:ext cx="6985159"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DevOps Lifecycle: Stages 5-8</a:t>
            </a:r>
            <a:endParaRPr lang="en-US" sz="3900" dirty="0"/>
          </a:p>
        </p:txBody>
      </p:sp>
      <p:sp>
        <p:nvSpPr>
          <p:cNvPr id="3" name="Shape 1"/>
          <p:cNvSpPr/>
          <p:nvPr/>
        </p:nvSpPr>
        <p:spPr>
          <a:xfrm>
            <a:off x="7303770" y="2117646"/>
            <a:ext cx="22860" cy="5011103"/>
          </a:xfrm>
          <a:prstGeom prst="roundRect">
            <a:avLst>
              <a:gd name="adj" fmla="val 364651"/>
            </a:avLst>
          </a:prstGeom>
          <a:solidFill>
            <a:srgbClr val="CCCCCC"/>
          </a:solidFill>
          <a:ln/>
        </p:spPr>
      </p:sp>
      <p:sp>
        <p:nvSpPr>
          <p:cNvPr id="4" name="Shape 2"/>
          <p:cNvSpPr/>
          <p:nvPr/>
        </p:nvSpPr>
        <p:spPr>
          <a:xfrm>
            <a:off x="6519505" y="2329458"/>
            <a:ext cx="595313" cy="22860"/>
          </a:xfrm>
          <a:prstGeom prst="roundRect">
            <a:avLst>
              <a:gd name="adj" fmla="val 364651"/>
            </a:avLst>
          </a:prstGeom>
          <a:solidFill>
            <a:srgbClr val="CCCCCC"/>
          </a:solidFill>
          <a:ln/>
        </p:spPr>
      </p:sp>
      <p:sp>
        <p:nvSpPr>
          <p:cNvPr id="5" name="Shape 3"/>
          <p:cNvSpPr/>
          <p:nvPr/>
        </p:nvSpPr>
        <p:spPr>
          <a:xfrm>
            <a:off x="7091958" y="2117646"/>
            <a:ext cx="446484" cy="446484"/>
          </a:xfrm>
          <a:prstGeom prst="roundRect">
            <a:avLst>
              <a:gd name="adj" fmla="val 18670"/>
            </a:avLst>
          </a:prstGeom>
          <a:solidFill>
            <a:srgbClr val="E6E6E6"/>
          </a:solidFill>
          <a:ln w="7620">
            <a:solidFill>
              <a:srgbClr val="CCCCCC"/>
            </a:solidFill>
            <a:prstDash val="solid"/>
          </a:ln>
        </p:spPr>
      </p:sp>
      <p:sp>
        <p:nvSpPr>
          <p:cNvPr id="6" name="Text 4"/>
          <p:cNvSpPr/>
          <p:nvPr/>
        </p:nvSpPr>
        <p:spPr>
          <a:xfrm>
            <a:off x="7166372" y="2154853"/>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030303"/>
                </a:solidFill>
                <a:latin typeface="Raleway Extra Bold" pitchFamily="34" charset="0"/>
                <a:ea typeface="Raleway Extra Bold" pitchFamily="34" charset="-122"/>
                <a:cs typeface="Raleway Extra Bold" pitchFamily="34" charset="-120"/>
              </a:rPr>
              <a:t>1</a:t>
            </a:r>
            <a:endParaRPr lang="en-US" sz="2300" dirty="0"/>
          </a:p>
        </p:txBody>
      </p:sp>
      <p:sp>
        <p:nvSpPr>
          <p:cNvPr id="7" name="Text 5"/>
          <p:cNvSpPr/>
          <p:nvPr/>
        </p:nvSpPr>
        <p:spPr>
          <a:xfrm>
            <a:off x="3842028" y="2185868"/>
            <a:ext cx="2480905" cy="310158"/>
          </a:xfrm>
          <a:prstGeom prst="rect">
            <a:avLst/>
          </a:prstGeom>
          <a:noFill/>
          <a:ln/>
        </p:spPr>
        <p:txBody>
          <a:bodyPr wrap="none" lIns="0" tIns="0" rIns="0" bIns="0" rtlCol="0" anchor="t"/>
          <a:lstStyle/>
          <a:p>
            <a:pPr algn="r"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5: Release</a:t>
            </a:r>
            <a:endParaRPr lang="en-US" sz="1950" dirty="0"/>
          </a:p>
        </p:txBody>
      </p:sp>
      <p:sp>
        <p:nvSpPr>
          <p:cNvPr id="8" name="Text 6"/>
          <p:cNvSpPr/>
          <p:nvPr/>
        </p:nvSpPr>
        <p:spPr>
          <a:xfrm>
            <a:off x="793790" y="2615089"/>
            <a:ext cx="5529143" cy="952619"/>
          </a:xfrm>
          <a:prstGeom prst="rect">
            <a:avLst/>
          </a:prstGeom>
          <a:noFill/>
          <a:ln/>
        </p:spPr>
        <p:txBody>
          <a:bodyPr wrap="square" lIns="0" tIns="0" rIns="0" bIns="0" rtlCol="0" anchor="t"/>
          <a:lstStyle/>
          <a:p>
            <a:pPr algn="r"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Automated release notes generation, binary checksum and metadata validation, regression testing before publication, CLI tool integration for quality gates</a:t>
            </a:r>
            <a:endParaRPr lang="en-US" sz="1550" dirty="0"/>
          </a:p>
        </p:txBody>
      </p:sp>
      <p:sp>
        <p:nvSpPr>
          <p:cNvPr id="9" name="Shape 7"/>
          <p:cNvSpPr/>
          <p:nvPr/>
        </p:nvSpPr>
        <p:spPr>
          <a:xfrm>
            <a:off x="7515582" y="3520083"/>
            <a:ext cx="595313" cy="22860"/>
          </a:xfrm>
          <a:prstGeom prst="roundRect">
            <a:avLst>
              <a:gd name="adj" fmla="val 364651"/>
            </a:avLst>
          </a:prstGeom>
          <a:solidFill>
            <a:srgbClr val="CCCCCC"/>
          </a:solidFill>
          <a:ln/>
        </p:spPr>
      </p:sp>
      <p:sp>
        <p:nvSpPr>
          <p:cNvPr id="10" name="Shape 8"/>
          <p:cNvSpPr/>
          <p:nvPr/>
        </p:nvSpPr>
        <p:spPr>
          <a:xfrm>
            <a:off x="7091958" y="3308271"/>
            <a:ext cx="446484" cy="446484"/>
          </a:xfrm>
          <a:prstGeom prst="roundRect">
            <a:avLst>
              <a:gd name="adj" fmla="val 18670"/>
            </a:avLst>
          </a:prstGeom>
          <a:solidFill>
            <a:srgbClr val="E6E6E6"/>
          </a:solidFill>
          <a:ln w="7620">
            <a:solidFill>
              <a:srgbClr val="CCCCCC"/>
            </a:solidFill>
            <a:prstDash val="solid"/>
          </a:ln>
        </p:spPr>
      </p:sp>
      <p:sp>
        <p:nvSpPr>
          <p:cNvPr id="11" name="Text 9"/>
          <p:cNvSpPr/>
          <p:nvPr/>
        </p:nvSpPr>
        <p:spPr>
          <a:xfrm>
            <a:off x="7166372" y="3345478"/>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030303"/>
                </a:solidFill>
                <a:latin typeface="Raleway Extra Bold" pitchFamily="34" charset="0"/>
                <a:ea typeface="Raleway Extra Bold" pitchFamily="34" charset="-122"/>
                <a:cs typeface="Raleway Extra Bold" pitchFamily="34" charset="-120"/>
              </a:rPr>
              <a:t>2</a:t>
            </a:r>
            <a:endParaRPr lang="en-US" sz="2300" dirty="0"/>
          </a:p>
        </p:txBody>
      </p:sp>
      <p:sp>
        <p:nvSpPr>
          <p:cNvPr id="12" name="Text 10"/>
          <p:cNvSpPr/>
          <p:nvPr/>
        </p:nvSpPr>
        <p:spPr>
          <a:xfrm>
            <a:off x="8307467" y="337649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6: Deploy</a:t>
            </a:r>
            <a:endParaRPr lang="en-US" sz="1950" dirty="0"/>
          </a:p>
        </p:txBody>
      </p:sp>
      <p:sp>
        <p:nvSpPr>
          <p:cNvPr id="13" name="Text 11"/>
          <p:cNvSpPr/>
          <p:nvPr/>
        </p:nvSpPr>
        <p:spPr>
          <a:xfrm>
            <a:off x="8307467" y="3805714"/>
            <a:ext cx="5529143" cy="127015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Ansible, Fabric, and Python SSH automation, configuration updates and artifact deployment, cloud resource state verification across AWS, GCP, Azure, IaC integration with Terraform</a:t>
            </a:r>
            <a:endParaRPr lang="en-US" sz="1550" dirty="0"/>
          </a:p>
        </p:txBody>
      </p:sp>
      <p:sp>
        <p:nvSpPr>
          <p:cNvPr id="14" name="Shape 12"/>
          <p:cNvSpPr/>
          <p:nvPr/>
        </p:nvSpPr>
        <p:spPr>
          <a:xfrm>
            <a:off x="6519505" y="4602242"/>
            <a:ext cx="595313" cy="22860"/>
          </a:xfrm>
          <a:prstGeom prst="roundRect">
            <a:avLst>
              <a:gd name="adj" fmla="val 364651"/>
            </a:avLst>
          </a:prstGeom>
          <a:solidFill>
            <a:srgbClr val="CCCCCC"/>
          </a:solidFill>
          <a:ln/>
        </p:spPr>
      </p:sp>
      <p:sp>
        <p:nvSpPr>
          <p:cNvPr id="15" name="Shape 13"/>
          <p:cNvSpPr/>
          <p:nvPr/>
        </p:nvSpPr>
        <p:spPr>
          <a:xfrm>
            <a:off x="7091958" y="4390430"/>
            <a:ext cx="446484" cy="446484"/>
          </a:xfrm>
          <a:prstGeom prst="roundRect">
            <a:avLst>
              <a:gd name="adj" fmla="val 18670"/>
            </a:avLst>
          </a:prstGeom>
          <a:solidFill>
            <a:srgbClr val="E6E6E6"/>
          </a:solidFill>
          <a:ln w="7620">
            <a:solidFill>
              <a:srgbClr val="CCCCCC"/>
            </a:solidFill>
            <a:prstDash val="solid"/>
          </a:ln>
        </p:spPr>
      </p:sp>
      <p:sp>
        <p:nvSpPr>
          <p:cNvPr id="16" name="Text 14"/>
          <p:cNvSpPr/>
          <p:nvPr/>
        </p:nvSpPr>
        <p:spPr>
          <a:xfrm>
            <a:off x="7166372" y="4427637"/>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030303"/>
                </a:solidFill>
                <a:latin typeface="Raleway Extra Bold" pitchFamily="34" charset="0"/>
                <a:ea typeface="Raleway Extra Bold" pitchFamily="34" charset="-122"/>
                <a:cs typeface="Raleway Extra Bold" pitchFamily="34" charset="-120"/>
              </a:rPr>
              <a:t>3</a:t>
            </a:r>
            <a:endParaRPr lang="en-US" sz="2300" dirty="0"/>
          </a:p>
        </p:txBody>
      </p:sp>
      <p:sp>
        <p:nvSpPr>
          <p:cNvPr id="17" name="Text 15"/>
          <p:cNvSpPr/>
          <p:nvPr/>
        </p:nvSpPr>
        <p:spPr>
          <a:xfrm>
            <a:off x="3842028" y="4458653"/>
            <a:ext cx="2480905" cy="310158"/>
          </a:xfrm>
          <a:prstGeom prst="rect">
            <a:avLst/>
          </a:prstGeom>
          <a:noFill/>
          <a:ln/>
        </p:spPr>
        <p:txBody>
          <a:bodyPr wrap="none" lIns="0" tIns="0" rIns="0" bIns="0" rtlCol="0" anchor="t"/>
          <a:lstStyle/>
          <a:p>
            <a:pPr algn="r"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7: Operate</a:t>
            </a:r>
            <a:endParaRPr lang="en-US" sz="1950" dirty="0"/>
          </a:p>
        </p:txBody>
      </p:sp>
      <p:sp>
        <p:nvSpPr>
          <p:cNvPr id="18" name="Text 16"/>
          <p:cNvSpPr/>
          <p:nvPr/>
        </p:nvSpPr>
        <p:spPr>
          <a:xfrm>
            <a:off x="793790" y="4887873"/>
            <a:ext cx="5529143" cy="952619"/>
          </a:xfrm>
          <a:prstGeom prst="rect">
            <a:avLst/>
          </a:prstGeom>
          <a:noFill/>
          <a:ln/>
        </p:spPr>
        <p:txBody>
          <a:bodyPr wrap="square" lIns="0" tIns="0" rIns="0" bIns="0" rtlCol="0" anchor="t"/>
          <a:lstStyle/>
          <a:p>
            <a:pPr algn="r"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Log analysis and metrics visualization, system behavior anomaly detection, operational dashboard generation, real-time monitoring tools</a:t>
            </a:r>
            <a:endParaRPr lang="en-US" sz="1550" dirty="0"/>
          </a:p>
        </p:txBody>
      </p:sp>
      <p:sp>
        <p:nvSpPr>
          <p:cNvPr id="19" name="Shape 17"/>
          <p:cNvSpPr/>
          <p:nvPr/>
        </p:nvSpPr>
        <p:spPr>
          <a:xfrm>
            <a:off x="7515582" y="5684520"/>
            <a:ext cx="595313" cy="22860"/>
          </a:xfrm>
          <a:prstGeom prst="roundRect">
            <a:avLst>
              <a:gd name="adj" fmla="val 364651"/>
            </a:avLst>
          </a:prstGeom>
          <a:solidFill>
            <a:srgbClr val="CCCCCC"/>
          </a:solidFill>
          <a:ln/>
        </p:spPr>
      </p:sp>
      <p:sp>
        <p:nvSpPr>
          <p:cNvPr id="20" name="Shape 18"/>
          <p:cNvSpPr/>
          <p:nvPr/>
        </p:nvSpPr>
        <p:spPr>
          <a:xfrm>
            <a:off x="7091958" y="5472708"/>
            <a:ext cx="446484" cy="446484"/>
          </a:xfrm>
          <a:prstGeom prst="roundRect">
            <a:avLst>
              <a:gd name="adj" fmla="val 18670"/>
            </a:avLst>
          </a:prstGeom>
          <a:solidFill>
            <a:srgbClr val="E6E6E6"/>
          </a:solidFill>
          <a:ln w="7620">
            <a:solidFill>
              <a:srgbClr val="CCCCCC"/>
            </a:solidFill>
            <a:prstDash val="solid"/>
          </a:ln>
        </p:spPr>
      </p:sp>
      <p:sp>
        <p:nvSpPr>
          <p:cNvPr id="21" name="Text 19"/>
          <p:cNvSpPr/>
          <p:nvPr/>
        </p:nvSpPr>
        <p:spPr>
          <a:xfrm>
            <a:off x="7166372" y="5509915"/>
            <a:ext cx="297656" cy="372070"/>
          </a:xfrm>
          <a:prstGeom prst="rect">
            <a:avLst/>
          </a:prstGeom>
          <a:noFill/>
          <a:ln/>
        </p:spPr>
        <p:txBody>
          <a:bodyPr wrap="none" lIns="0" tIns="0" rIns="0" bIns="0" rtlCol="0" anchor="t"/>
          <a:lstStyle/>
          <a:p>
            <a:pPr algn="ctr" indent="0" marL="0">
              <a:lnSpc>
                <a:spcPts val="2300"/>
              </a:lnSpc>
              <a:buNone/>
            </a:pPr>
            <a:r>
              <a:rPr lang="en-US" sz="2300" b="1" dirty="0">
                <a:solidFill>
                  <a:srgbClr val="030303"/>
                </a:solidFill>
                <a:latin typeface="Raleway Extra Bold" pitchFamily="34" charset="0"/>
                <a:ea typeface="Raleway Extra Bold" pitchFamily="34" charset="-122"/>
                <a:cs typeface="Raleway Extra Bold" pitchFamily="34" charset="-120"/>
              </a:rPr>
              <a:t>4</a:t>
            </a:r>
            <a:endParaRPr lang="en-US" sz="2300" dirty="0"/>
          </a:p>
        </p:txBody>
      </p:sp>
      <p:sp>
        <p:nvSpPr>
          <p:cNvPr id="22" name="Text 20"/>
          <p:cNvSpPr/>
          <p:nvPr/>
        </p:nvSpPr>
        <p:spPr>
          <a:xfrm>
            <a:off x="8307467" y="554093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Stage 8: Feedback</a:t>
            </a:r>
            <a:endParaRPr lang="en-US" sz="1950" dirty="0"/>
          </a:p>
        </p:txBody>
      </p:sp>
      <p:sp>
        <p:nvSpPr>
          <p:cNvPr id="23" name="Text 21"/>
          <p:cNvSpPr/>
          <p:nvPr/>
        </p:nvSpPr>
        <p:spPr>
          <a:xfrm>
            <a:off x="8307467" y="5970151"/>
            <a:ext cx="5529143" cy="95261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Bug pattern analysis from logs, notebook-based root-cause analysis, automated CI failure statistics, test failure pattern and code path hotspot analysis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462921"/>
            <a:ext cx="5922883"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Python's Technical Roles</a:t>
            </a:r>
            <a:endParaRPr lang="en-US" sz="3900" dirty="0"/>
          </a:p>
        </p:txBody>
      </p:sp>
      <p:sp>
        <p:nvSpPr>
          <p:cNvPr id="3" name="Text 1"/>
          <p:cNvSpPr/>
          <p:nvPr/>
        </p:nvSpPr>
        <p:spPr>
          <a:xfrm>
            <a:off x="793790" y="2559248"/>
            <a:ext cx="3979664"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Testing &amp; Quality</a:t>
            </a:r>
            <a:endParaRPr lang="en-US" sz="1950" dirty="0"/>
          </a:p>
        </p:txBody>
      </p:sp>
      <p:sp>
        <p:nvSpPr>
          <p:cNvPr id="4" name="Text 2"/>
          <p:cNvSpPr/>
          <p:nvPr/>
        </p:nvSpPr>
        <p:spPr>
          <a:xfrm>
            <a:off x="793790" y="3134797"/>
            <a:ext cx="3979664" cy="1190863"/>
          </a:xfrm>
          <a:prstGeom prst="rect">
            <a:avLst/>
          </a:prstGeom>
          <a:noFill/>
          <a:ln/>
        </p:spPr>
        <p:txBody>
          <a:bodyPr wrap="squar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Python dominates enterprise testing with comprehensive frameworks:</a:t>
            </a:r>
            <a:endParaRPr lang="en-US" sz="1950" dirty="0"/>
          </a:p>
        </p:txBody>
      </p:sp>
      <p:sp>
        <p:nvSpPr>
          <p:cNvPr id="5" name="Text 3"/>
          <p:cNvSpPr/>
          <p:nvPr/>
        </p:nvSpPr>
        <p:spPr>
          <a:xfrm>
            <a:off x="793790" y="4504253"/>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pytest for flexible test discovery</a:t>
            </a:r>
            <a:endParaRPr lang="en-US" sz="1550" dirty="0"/>
          </a:p>
        </p:txBody>
      </p:sp>
      <p:sp>
        <p:nvSpPr>
          <p:cNvPr id="6" name="Text 4"/>
          <p:cNvSpPr/>
          <p:nvPr/>
        </p:nvSpPr>
        <p:spPr>
          <a:xfrm>
            <a:off x="793790" y="4970621"/>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unittest for standard testing</a:t>
            </a:r>
            <a:endParaRPr lang="en-US" sz="1550" dirty="0"/>
          </a:p>
        </p:txBody>
      </p:sp>
      <p:sp>
        <p:nvSpPr>
          <p:cNvPr id="7" name="Text 5"/>
          <p:cNvSpPr/>
          <p:nvPr/>
        </p:nvSpPr>
        <p:spPr>
          <a:xfrm>
            <a:off x="793790" y="5436989"/>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mock for isolation</a:t>
            </a:r>
            <a:endParaRPr lang="en-US" sz="1550" dirty="0"/>
          </a:p>
        </p:txBody>
      </p:sp>
      <p:sp>
        <p:nvSpPr>
          <p:cNvPr id="8" name="Text 6"/>
          <p:cNvSpPr/>
          <p:nvPr/>
        </p:nvSpPr>
        <p:spPr>
          <a:xfrm>
            <a:off x="793790" y="5903357"/>
            <a:ext cx="3979664"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tox for environment management</a:t>
            </a:r>
            <a:endParaRPr lang="en-US" sz="1550" dirty="0"/>
          </a:p>
        </p:txBody>
      </p:sp>
      <p:sp>
        <p:nvSpPr>
          <p:cNvPr id="9" name="Text 7"/>
          <p:cNvSpPr/>
          <p:nvPr/>
        </p:nvSpPr>
        <p:spPr>
          <a:xfrm>
            <a:off x="5265182" y="2559248"/>
            <a:ext cx="3979664"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Automation &amp; IaC</a:t>
            </a:r>
            <a:endParaRPr lang="en-US" sz="1950" dirty="0"/>
          </a:p>
        </p:txBody>
      </p:sp>
      <p:sp>
        <p:nvSpPr>
          <p:cNvPr id="10" name="Text 8"/>
          <p:cNvSpPr/>
          <p:nvPr/>
        </p:nvSpPr>
        <p:spPr>
          <a:xfrm>
            <a:off x="5265182" y="3134797"/>
            <a:ext cx="3979664"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Streamline operations with Python:</a:t>
            </a:r>
            <a:endParaRPr lang="en-US" sz="1950" dirty="0"/>
          </a:p>
        </p:txBody>
      </p:sp>
      <p:sp>
        <p:nvSpPr>
          <p:cNvPr id="11" name="Text 9"/>
          <p:cNvSpPr/>
          <p:nvPr/>
        </p:nvSpPr>
        <p:spPr>
          <a:xfrm>
            <a:off x="5265182" y="3710345"/>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Deployment automation</a:t>
            </a:r>
            <a:endParaRPr lang="en-US" sz="1550" dirty="0"/>
          </a:p>
        </p:txBody>
      </p:sp>
      <p:sp>
        <p:nvSpPr>
          <p:cNvPr id="12" name="Text 10"/>
          <p:cNvSpPr/>
          <p:nvPr/>
        </p:nvSpPr>
        <p:spPr>
          <a:xfrm>
            <a:off x="5265182" y="4176713"/>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Data pipeline integration</a:t>
            </a:r>
            <a:endParaRPr lang="en-US" sz="1550" dirty="0"/>
          </a:p>
        </p:txBody>
      </p:sp>
      <p:sp>
        <p:nvSpPr>
          <p:cNvPr id="13" name="Text 11"/>
          <p:cNvSpPr/>
          <p:nvPr/>
        </p:nvSpPr>
        <p:spPr>
          <a:xfrm>
            <a:off x="5265182" y="4643080"/>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Ansible playbooks</a:t>
            </a:r>
            <a:endParaRPr lang="en-US" sz="1550" dirty="0"/>
          </a:p>
        </p:txBody>
      </p:sp>
      <p:sp>
        <p:nvSpPr>
          <p:cNvPr id="14" name="Text 12"/>
          <p:cNvSpPr/>
          <p:nvPr/>
        </p:nvSpPr>
        <p:spPr>
          <a:xfrm>
            <a:off x="5265182" y="5109448"/>
            <a:ext cx="3979664"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Terraform helper scripts</a:t>
            </a:r>
            <a:endParaRPr lang="en-US" sz="1550" dirty="0"/>
          </a:p>
        </p:txBody>
      </p:sp>
      <p:sp>
        <p:nvSpPr>
          <p:cNvPr id="15" name="Text 13"/>
          <p:cNvSpPr/>
          <p:nvPr/>
        </p:nvSpPr>
        <p:spPr>
          <a:xfrm>
            <a:off x="9736574" y="2559248"/>
            <a:ext cx="4115038"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Data &amp; Integration</a:t>
            </a:r>
            <a:endParaRPr lang="en-US" sz="1950" dirty="0"/>
          </a:p>
        </p:txBody>
      </p:sp>
      <p:sp>
        <p:nvSpPr>
          <p:cNvPr id="16" name="Text 14"/>
          <p:cNvSpPr/>
          <p:nvPr/>
        </p:nvSpPr>
        <p:spPr>
          <a:xfrm>
            <a:off x="9736574" y="3134797"/>
            <a:ext cx="4115038"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Power analysis and connectivity:</a:t>
            </a:r>
            <a:endParaRPr lang="en-US" sz="1950" dirty="0"/>
          </a:p>
        </p:txBody>
      </p:sp>
      <p:sp>
        <p:nvSpPr>
          <p:cNvPr id="17" name="Text 15"/>
          <p:cNvSpPr/>
          <p:nvPr/>
        </p:nvSpPr>
        <p:spPr>
          <a:xfrm>
            <a:off x="9736574" y="3710345"/>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Pandas for data manipulation</a:t>
            </a:r>
            <a:endParaRPr lang="en-US" sz="1550" dirty="0"/>
          </a:p>
        </p:txBody>
      </p:sp>
      <p:sp>
        <p:nvSpPr>
          <p:cNvPr id="18" name="Text 16"/>
          <p:cNvSpPr/>
          <p:nvPr/>
        </p:nvSpPr>
        <p:spPr>
          <a:xfrm>
            <a:off x="9736574" y="4176713"/>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Matplotlib visualization</a:t>
            </a:r>
            <a:endParaRPr lang="en-US" sz="1550" dirty="0"/>
          </a:p>
        </p:txBody>
      </p:sp>
      <p:sp>
        <p:nvSpPr>
          <p:cNvPr id="19" name="Text 17"/>
          <p:cNvSpPr/>
          <p:nvPr/>
        </p:nvSpPr>
        <p:spPr>
          <a:xfrm>
            <a:off x="9736574" y="4643080"/>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Jupyter notebooks</a:t>
            </a:r>
            <a:endParaRPr lang="en-US" sz="1550" dirty="0"/>
          </a:p>
        </p:txBody>
      </p:sp>
      <p:sp>
        <p:nvSpPr>
          <p:cNvPr id="20" name="Text 18"/>
          <p:cNvSpPr/>
          <p:nvPr/>
        </p:nvSpPr>
        <p:spPr>
          <a:xfrm>
            <a:off x="9736574" y="5109448"/>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API integration</a:t>
            </a:r>
            <a:endParaRPr lang="en-US" sz="1550" dirty="0"/>
          </a:p>
        </p:txBody>
      </p:sp>
      <p:sp>
        <p:nvSpPr>
          <p:cNvPr id="21" name="Text 19"/>
          <p:cNvSpPr/>
          <p:nvPr/>
        </p:nvSpPr>
        <p:spPr>
          <a:xfrm>
            <a:off x="9736574" y="5575816"/>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Binary calling</a:t>
            </a:r>
            <a:endParaRPr lang="en-US" sz="1550" dirty="0"/>
          </a:p>
        </p:txBody>
      </p:sp>
      <p:sp>
        <p:nvSpPr>
          <p:cNvPr id="22" name="Text 20"/>
          <p:cNvSpPr/>
          <p:nvPr/>
        </p:nvSpPr>
        <p:spPr>
          <a:xfrm>
            <a:off x="9736574" y="6042184"/>
            <a:ext cx="4115038"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CLI tool creation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73298"/>
            <a:ext cx="6258758"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Python Testing Ecosystem</a:t>
            </a:r>
            <a:endParaRPr lang="en-US" sz="3900" dirty="0"/>
          </a:p>
        </p:txBody>
      </p:sp>
      <p:sp>
        <p:nvSpPr>
          <p:cNvPr id="3" name="Shape 1"/>
          <p:cNvSpPr/>
          <p:nvPr/>
        </p:nvSpPr>
        <p:spPr>
          <a:xfrm>
            <a:off x="793790" y="1690211"/>
            <a:ext cx="4215289" cy="2459355"/>
          </a:xfrm>
          <a:prstGeom prst="roundRect">
            <a:avLst>
              <a:gd name="adj" fmla="val 3389"/>
            </a:avLst>
          </a:prstGeom>
          <a:solidFill>
            <a:srgbClr val="FFFFFF"/>
          </a:solidFill>
          <a:ln w="22860">
            <a:solidFill>
              <a:srgbClr val="CCCCCC"/>
            </a:solidFill>
            <a:prstDash val="solid"/>
          </a:ln>
        </p:spPr>
      </p:sp>
      <p:sp>
        <p:nvSpPr>
          <p:cNvPr id="4" name="Text 2"/>
          <p:cNvSpPr/>
          <p:nvPr/>
        </p:nvSpPr>
        <p:spPr>
          <a:xfrm>
            <a:off x="1015008" y="191142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pytest</a:t>
            </a:r>
            <a:endParaRPr lang="en-US" sz="1950" dirty="0"/>
          </a:p>
        </p:txBody>
      </p:sp>
      <p:sp>
        <p:nvSpPr>
          <p:cNvPr id="5" name="Text 3"/>
          <p:cNvSpPr/>
          <p:nvPr/>
        </p:nvSpPr>
        <p:spPr>
          <a:xfrm>
            <a:off x="1015008" y="2340650"/>
            <a:ext cx="3772853" cy="1587698"/>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The industry-standard testing framework featuring fixtures for setup/teardown, parametrize for data-driven tests, and markers for test categorization and selective execution</a:t>
            </a:r>
            <a:endParaRPr lang="en-US" sz="1550" dirty="0"/>
          </a:p>
        </p:txBody>
      </p:sp>
      <p:sp>
        <p:nvSpPr>
          <p:cNvPr id="6" name="Shape 4"/>
          <p:cNvSpPr/>
          <p:nvPr/>
        </p:nvSpPr>
        <p:spPr>
          <a:xfrm>
            <a:off x="5207437" y="1690211"/>
            <a:ext cx="4215408" cy="2459355"/>
          </a:xfrm>
          <a:prstGeom prst="roundRect">
            <a:avLst>
              <a:gd name="adj" fmla="val 3389"/>
            </a:avLst>
          </a:prstGeom>
          <a:solidFill>
            <a:srgbClr val="FFFFFF"/>
          </a:solidFill>
          <a:ln w="22860">
            <a:solidFill>
              <a:srgbClr val="CCCCCC"/>
            </a:solidFill>
            <a:prstDash val="solid"/>
          </a:ln>
        </p:spPr>
      </p:sp>
      <p:sp>
        <p:nvSpPr>
          <p:cNvPr id="7" name="Text 5"/>
          <p:cNvSpPr/>
          <p:nvPr/>
        </p:nvSpPr>
        <p:spPr>
          <a:xfrm>
            <a:off x="5428655" y="191142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pytest-xdist</a:t>
            </a:r>
            <a:endParaRPr lang="en-US" sz="1950" dirty="0"/>
          </a:p>
        </p:txBody>
      </p:sp>
      <p:sp>
        <p:nvSpPr>
          <p:cNvPr id="8" name="Text 6"/>
          <p:cNvSpPr/>
          <p:nvPr/>
        </p:nvSpPr>
        <p:spPr>
          <a:xfrm>
            <a:off x="5428655" y="2340650"/>
            <a:ext cx="3772972" cy="127015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Parallel test execution across multiple CPU cores or machines, dramatically reducing test suite runtime for large codebases</a:t>
            </a:r>
            <a:endParaRPr lang="en-US" sz="1550" dirty="0"/>
          </a:p>
        </p:txBody>
      </p:sp>
      <p:sp>
        <p:nvSpPr>
          <p:cNvPr id="9" name="Shape 7"/>
          <p:cNvSpPr/>
          <p:nvPr/>
        </p:nvSpPr>
        <p:spPr>
          <a:xfrm>
            <a:off x="9621203" y="1690211"/>
            <a:ext cx="4215289" cy="2459355"/>
          </a:xfrm>
          <a:prstGeom prst="roundRect">
            <a:avLst>
              <a:gd name="adj" fmla="val 3389"/>
            </a:avLst>
          </a:prstGeom>
          <a:solidFill>
            <a:srgbClr val="FFFFFF"/>
          </a:solidFill>
          <a:ln w="22860">
            <a:solidFill>
              <a:srgbClr val="CCCCCC"/>
            </a:solidFill>
            <a:prstDash val="solid"/>
          </a:ln>
        </p:spPr>
      </p:sp>
      <p:sp>
        <p:nvSpPr>
          <p:cNvPr id="10" name="Text 8"/>
          <p:cNvSpPr/>
          <p:nvPr/>
        </p:nvSpPr>
        <p:spPr>
          <a:xfrm>
            <a:off x="9842421" y="1911429"/>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pytest-html</a:t>
            </a:r>
            <a:endParaRPr lang="en-US" sz="1950" dirty="0"/>
          </a:p>
        </p:txBody>
      </p:sp>
      <p:sp>
        <p:nvSpPr>
          <p:cNvPr id="11" name="Text 9"/>
          <p:cNvSpPr/>
          <p:nvPr/>
        </p:nvSpPr>
        <p:spPr>
          <a:xfrm>
            <a:off x="9842421" y="2340650"/>
            <a:ext cx="3772853" cy="127015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Generates beautiful, shareable HTML test reports with detailed failure information, perfect for CI/CD pipelines and stakeholder communication</a:t>
            </a:r>
            <a:endParaRPr lang="en-US" sz="1550" dirty="0"/>
          </a:p>
        </p:txBody>
      </p:sp>
      <p:sp>
        <p:nvSpPr>
          <p:cNvPr id="12" name="Shape 10"/>
          <p:cNvSpPr/>
          <p:nvPr/>
        </p:nvSpPr>
        <p:spPr>
          <a:xfrm>
            <a:off x="793790" y="4347924"/>
            <a:ext cx="6422112" cy="1824276"/>
          </a:xfrm>
          <a:prstGeom prst="roundRect">
            <a:avLst>
              <a:gd name="adj" fmla="val 4569"/>
            </a:avLst>
          </a:prstGeom>
          <a:solidFill>
            <a:srgbClr val="FFFFFF"/>
          </a:solidFill>
          <a:ln w="22860">
            <a:solidFill>
              <a:srgbClr val="CCCCCC"/>
            </a:solidFill>
            <a:prstDash val="solid"/>
          </a:ln>
        </p:spPr>
      </p:sp>
      <p:sp>
        <p:nvSpPr>
          <p:cNvPr id="13" name="Text 11"/>
          <p:cNvSpPr/>
          <p:nvPr/>
        </p:nvSpPr>
        <p:spPr>
          <a:xfrm>
            <a:off x="1015008" y="456914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coverage</a:t>
            </a:r>
            <a:endParaRPr lang="en-US" sz="1950" dirty="0"/>
          </a:p>
        </p:txBody>
      </p:sp>
      <p:sp>
        <p:nvSpPr>
          <p:cNvPr id="14" name="Text 12"/>
          <p:cNvSpPr/>
          <p:nvPr/>
        </p:nvSpPr>
        <p:spPr>
          <a:xfrm>
            <a:off x="1015008" y="4998363"/>
            <a:ext cx="5979676" cy="95261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Measures code coverage percentage, identifies untested code paths, and generates detailed reports to improve test completeness</a:t>
            </a:r>
            <a:endParaRPr lang="en-US" sz="1550" dirty="0"/>
          </a:p>
        </p:txBody>
      </p:sp>
      <p:sp>
        <p:nvSpPr>
          <p:cNvPr id="15" name="Shape 13"/>
          <p:cNvSpPr/>
          <p:nvPr/>
        </p:nvSpPr>
        <p:spPr>
          <a:xfrm>
            <a:off x="7414260" y="4347924"/>
            <a:ext cx="6422231" cy="1824276"/>
          </a:xfrm>
          <a:prstGeom prst="roundRect">
            <a:avLst>
              <a:gd name="adj" fmla="val 4569"/>
            </a:avLst>
          </a:prstGeom>
          <a:solidFill>
            <a:srgbClr val="FFFFFF"/>
          </a:solidFill>
          <a:ln w="22860">
            <a:solidFill>
              <a:srgbClr val="CCCCCC"/>
            </a:solidFill>
            <a:prstDash val="solid"/>
          </a:ln>
        </p:spPr>
      </p:sp>
      <p:sp>
        <p:nvSpPr>
          <p:cNvPr id="16" name="Text 14"/>
          <p:cNvSpPr/>
          <p:nvPr/>
        </p:nvSpPr>
        <p:spPr>
          <a:xfrm>
            <a:off x="7635478" y="4569143"/>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GitHub Actions</a:t>
            </a:r>
            <a:endParaRPr lang="en-US" sz="1950" dirty="0"/>
          </a:p>
        </p:txBody>
      </p:sp>
      <p:sp>
        <p:nvSpPr>
          <p:cNvPr id="17" name="Text 15"/>
          <p:cNvSpPr/>
          <p:nvPr/>
        </p:nvSpPr>
        <p:spPr>
          <a:xfrm>
            <a:off x="7635478" y="4998363"/>
            <a:ext cx="5979795" cy="95261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Cloud-based CI/CD automation for build, test, and deployment workflows with matrix testing across multiple platforms and Python versions</a:t>
            </a:r>
            <a:endParaRPr lang="en-US" sz="1550" dirty="0"/>
          </a:p>
        </p:txBody>
      </p:sp>
      <p:sp>
        <p:nvSpPr>
          <p:cNvPr id="18" name="Shape 16"/>
          <p:cNvSpPr/>
          <p:nvPr/>
        </p:nvSpPr>
        <p:spPr>
          <a:xfrm>
            <a:off x="793790" y="6395442"/>
            <a:ext cx="13042821" cy="1160740"/>
          </a:xfrm>
          <a:prstGeom prst="roundRect">
            <a:avLst>
              <a:gd name="adj" fmla="val 7182"/>
            </a:avLst>
          </a:prstGeom>
          <a:solidFill>
            <a:srgbClr val="D9D9D9"/>
          </a:solidFill>
          <a:ln/>
        </p:spPr>
      </p:sp>
      <p:pic>
        <p:nvPicPr>
          <p:cNvPr id="19" name="Image 0" descr="preencoded.png">    </p:cNvPr>
          <p:cNvPicPr>
            <a:picLocks noChangeAspect="1"/>
          </p:cNvPicPr>
          <p:nvPr/>
        </p:nvPicPr>
        <p:blipFill>
          <a:blip r:embed="rId1"/>
          <a:stretch>
            <a:fillRect/>
          </a:stretch>
        </p:blipFill>
        <p:spPr>
          <a:xfrm>
            <a:off x="992148" y="6690717"/>
            <a:ext cx="248007" cy="198358"/>
          </a:xfrm>
          <a:prstGeom prst="rect">
            <a:avLst/>
          </a:prstGeom>
        </p:spPr>
      </p:pic>
      <p:sp>
        <p:nvSpPr>
          <p:cNvPr id="20" name="Text 17"/>
          <p:cNvSpPr/>
          <p:nvPr/>
        </p:nvSpPr>
        <p:spPr>
          <a:xfrm>
            <a:off x="1438513" y="6643330"/>
            <a:ext cx="12199739"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oboto Bold" pitchFamily="34" charset="0"/>
                <a:ea typeface="Roboto Bold" pitchFamily="34" charset="-122"/>
                <a:cs typeface="Roboto Bold" pitchFamily="34" charset="-120"/>
              </a:rPr>
              <a:t>Enterprise Strategy:</a:t>
            </a:r>
            <a:pPr algn="l" indent="0" marL="0">
              <a:lnSpc>
                <a:spcPts val="2500"/>
              </a:lnSpc>
              <a:buNone/>
            </a:pPr>
            <a:r>
              <a:rPr lang="en-US" sz="1550" b="1" dirty="0">
                <a:solidFill>
                  <a:srgbClr val="000000"/>
                </a:solidFill>
                <a:latin typeface="Roboto Bold" pitchFamily="34" charset="0"/>
                <a:ea typeface="Roboto Bold" pitchFamily="34" charset="-122"/>
                <a:cs typeface="Roboto Bold" pitchFamily="34" charset="-120"/>
              </a:rPr>
              <a:t> Use Python to test all languages (Go, C, Python, JS). Testing workflows become versioned, repeatable, and fully automated—the foundation of reliable software delivery.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69169"/>
            <a:ext cx="6907768" cy="496133"/>
          </a:xfrm>
          <a:prstGeom prst="rect">
            <a:avLst/>
          </a:prstGeom>
          <a:noFill/>
          <a:ln/>
        </p:spPr>
        <p:txBody>
          <a:bodyPr wrap="none" lIns="0" tIns="0" rIns="0" bIns="0" rtlCol="0" anchor="t"/>
          <a:lstStyle/>
          <a:p>
            <a:pPr algn="l" indent="0" marL="0">
              <a:lnSpc>
                <a:spcPts val="3900"/>
              </a:lnSpc>
              <a:buNone/>
            </a:pPr>
            <a:r>
              <a:rPr lang="en-US" sz="3100" b="1" dirty="0">
                <a:solidFill>
                  <a:srgbClr val="030303"/>
                </a:solidFill>
                <a:latin typeface="Raleway Extra Bold" pitchFamily="34" charset="0"/>
                <a:ea typeface="Raleway Extra Bold" pitchFamily="34" charset="-122"/>
                <a:cs typeface="Raleway Extra Bold" pitchFamily="34" charset="-120"/>
              </a:rPr>
              <a:t>Lab 1: TLSH Data Lineage Deep Dive</a:t>
            </a:r>
            <a:endParaRPr lang="en-US" sz="3100" dirty="0"/>
          </a:p>
        </p:txBody>
      </p:sp>
      <p:sp>
        <p:nvSpPr>
          <p:cNvPr id="3" name="Text 1"/>
          <p:cNvSpPr/>
          <p:nvPr/>
        </p:nvSpPr>
        <p:spPr>
          <a:xfrm>
            <a:off x="793790" y="1941552"/>
            <a:ext cx="5602962"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What You'll Learn</a:t>
            </a:r>
            <a:endParaRPr lang="en-US" sz="1950" dirty="0"/>
          </a:p>
        </p:txBody>
      </p:sp>
      <p:sp>
        <p:nvSpPr>
          <p:cNvPr id="4" name="Text 2"/>
          <p:cNvSpPr/>
          <p:nvPr/>
        </p:nvSpPr>
        <p:spPr>
          <a:xfrm>
            <a:off x="793790" y="2517100"/>
            <a:ext cx="5602962" cy="1587818"/>
          </a:xfrm>
          <a:prstGeom prst="rect">
            <a:avLst/>
          </a:prstGeom>
          <a:noFill/>
          <a:ln/>
        </p:spPr>
        <p:txBody>
          <a:bodyPr wrap="squar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This lab demonstrates how Python excels at security analysis and data forensics. You'll work with real-world techniques used by security teams to investigate data breaches.</a:t>
            </a:r>
            <a:endParaRPr lang="en-US" sz="1950" dirty="0"/>
          </a:p>
        </p:txBody>
      </p:sp>
      <p:sp>
        <p:nvSpPr>
          <p:cNvPr id="5" name="Text 3"/>
          <p:cNvSpPr/>
          <p:nvPr/>
        </p:nvSpPr>
        <p:spPr>
          <a:xfrm>
            <a:off x="793790" y="4283512"/>
            <a:ext cx="5602962"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Key Concepts</a:t>
            </a:r>
            <a:endParaRPr lang="en-US" sz="1950" dirty="0"/>
          </a:p>
        </p:txBody>
      </p:sp>
      <p:sp>
        <p:nvSpPr>
          <p:cNvPr id="6" name="Text 4"/>
          <p:cNvSpPr/>
          <p:nvPr/>
        </p:nvSpPr>
        <p:spPr>
          <a:xfrm>
            <a:off x="793790" y="4859060"/>
            <a:ext cx="5602962"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TLSH as a similarity-preserving hash function</a:t>
            </a:r>
            <a:endParaRPr lang="en-US" sz="1550" dirty="0"/>
          </a:p>
        </p:txBody>
      </p:sp>
      <p:sp>
        <p:nvSpPr>
          <p:cNvPr id="7" name="Text 5"/>
          <p:cNvSpPr/>
          <p:nvPr/>
        </p:nvSpPr>
        <p:spPr>
          <a:xfrm>
            <a:off x="793790" y="5325428"/>
            <a:ext cx="5602962" cy="79390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Distance matrix computation for pairwise comparison</a:t>
            </a:r>
            <a:endParaRPr lang="en-US" sz="1550" dirty="0"/>
          </a:p>
        </p:txBody>
      </p:sp>
      <p:sp>
        <p:nvSpPr>
          <p:cNvPr id="8" name="Text 6"/>
          <p:cNvSpPr/>
          <p:nvPr/>
        </p:nvSpPr>
        <p:spPr>
          <a:xfrm>
            <a:off x="793790" y="6188750"/>
            <a:ext cx="5602962"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DBSCAN density-based clustering algorithm</a:t>
            </a:r>
            <a:endParaRPr lang="en-US" sz="1550" dirty="0"/>
          </a:p>
        </p:txBody>
      </p:sp>
      <p:sp>
        <p:nvSpPr>
          <p:cNvPr id="9" name="Text 7"/>
          <p:cNvSpPr/>
          <p:nvPr/>
        </p:nvSpPr>
        <p:spPr>
          <a:xfrm>
            <a:off x="793790" y="6655118"/>
            <a:ext cx="5602962" cy="396954"/>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Parameter tuning (eps) for optimal grouping</a:t>
            </a:r>
            <a:endParaRPr lang="en-US" sz="1550" dirty="0"/>
          </a:p>
        </p:txBody>
      </p:sp>
      <p:sp>
        <p:nvSpPr>
          <p:cNvPr id="10" name="Text 8"/>
          <p:cNvSpPr/>
          <p:nvPr/>
        </p:nvSpPr>
        <p:spPr>
          <a:xfrm>
            <a:off x="6888480" y="1941552"/>
            <a:ext cx="6955631" cy="396954"/>
          </a:xfrm>
          <a:prstGeom prst="rect">
            <a:avLst/>
          </a:prstGeom>
          <a:noFill/>
          <a:ln/>
        </p:spPr>
        <p:txBody>
          <a:bodyPr wrap="non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Lab Steps</a:t>
            </a:r>
            <a:endParaRPr lang="en-US" sz="1950" dirty="0"/>
          </a:p>
        </p:txBody>
      </p:sp>
      <p:sp>
        <p:nvSpPr>
          <p:cNvPr id="11" name="Text 9"/>
          <p:cNvSpPr/>
          <p:nvPr/>
        </p:nvSpPr>
        <p:spPr>
          <a:xfrm>
            <a:off x="6888480" y="2517100"/>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b="1" dirty="0">
                <a:solidFill>
                  <a:srgbClr val="030303"/>
                </a:solidFill>
                <a:latin typeface="Roboto Bold" pitchFamily="34" charset="0"/>
                <a:ea typeface="Roboto Bold" pitchFamily="34" charset="-122"/>
                <a:cs typeface="Roboto Bold" pitchFamily="34" charset="-120"/>
              </a:rPr>
              <a:t>Generate TLSH hash for each sample</a:t>
            </a:r>
            <a:endParaRPr lang="en-US" sz="1550" dirty="0"/>
          </a:p>
        </p:txBody>
      </p:sp>
      <p:sp>
        <p:nvSpPr>
          <p:cNvPr id="12" name="Text 10"/>
          <p:cNvSpPr/>
          <p:nvPr/>
        </p:nvSpPr>
        <p:spPr>
          <a:xfrm>
            <a:off x="6888480" y="2983468"/>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b="1" dirty="0">
                <a:solidFill>
                  <a:srgbClr val="030303"/>
                </a:solidFill>
                <a:latin typeface="Roboto Bold" pitchFamily="34" charset="0"/>
                <a:ea typeface="Roboto Bold" pitchFamily="34" charset="-122"/>
                <a:cs typeface="Roboto Bold" pitchFamily="34" charset="-120"/>
              </a:rPr>
              <a:t>Compute similarity matrix (pairwise distances)</a:t>
            </a:r>
            <a:endParaRPr lang="en-US" sz="1550" dirty="0"/>
          </a:p>
        </p:txBody>
      </p:sp>
      <p:sp>
        <p:nvSpPr>
          <p:cNvPr id="13" name="Text 11"/>
          <p:cNvSpPr/>
          <p:nvPr/>
        </p:nvSpPr>
        <p:spPr>
          <a:xfrm>
            <a:off x="6888480" y="3449836"/>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b="1" dirty="0">
                <a:solidFill>
                  <a:srgbClr val="030303"/>
                </a:solidFill>
                <a:latin typeface="Roboto Bold" pitchFamily="34" charset="0"/>
                <a:ea typeface="Roboto Bold" pitchFamily="34" charset="-122"/>
                <a:cs typeface="Roboto Bold" pitchFamily="34" charset="-120"/>
              </a:rPr>
              <a:t>Apply DBSCAN with initial eps value</a:t>
            </a:r>
            <a:endParaRPr lang="en-US" sz="1550" dirty="0"/>
          </a:p>
        </p:txBody>
      </p:sp>
      <p:sp>
        <p:nvSpPr>
          <p:cNvPr id="14" name="Text 12"/>
          <p:cNvSpPr/>
          <p:nvPr/>
        </p:nvSpPr>
        <p:spPr>
          <a:xfrm>
            <a:off x="6888480" y="3916204"/>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b="1" dirty="0">
                <a:solidFill>
                  <a:srgbClr val="030303"/>
                </a:solidFill>
                <a:latin typeface="Roboto Bold" pitchFamily="34" charset="0"/>
                <a:ea typeface="Roboto Bold" pitchFamily="34" charset="-122"/>
                <a:cs typeface="Roboto Bold" pitchFamily="34" charset="-120"/>
              </a:rPr>
              <a:t>Visualize clusters and outliers</a:t>
            </a:r>
            <a:endParaRPr lang="en-US" sz="1550" dirty="0"/>
          </a:p>
        </p:txBody>
      </p:sp>
      <p:sp>
        <p:nvSpPr>
          <p:cNvPr id="15" name="Text 13"/>
          <p:cNvSpPr/>
          <p:nvPr/>
        </p:nvSpPr>
        <p:spPr>
          <a:xfrm>
            <a:off x="6888480" y="4382572"/>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5"/>
            </a:pPr>
            <a:r>
              <a:rPr lang="en-US" sz="1550" b="1" dirty="0">
                <a:solidFill>
                  <a:srgbClr val="030303"/>
                </a:solidFill>
                <a:latin typeface="Roboto Bold" pitchFamily="34" charset="0"/>
                <a:ea typeface="Roboto Bold" pitchFamily="34" charset="-122"/>
                <a:cs typeface="Roboto Bold" pitchFamily="34" charset="-120"/>
              </a:rPr>
              <a:t>Experiment with different eps values</a:t>
            </a:r>
            <a:endParaRPr lang="en-US" sz="1550" dirty="0"/>
          </a:p>
        </p:txBody>
      </p:sp>
      <p:sp>
        <p:nvSpPr>
          <p:cNvPr id="16" name="Text 14"/>
          <p:cNvSpPr/>
          <p:nvPr/>
        </p:nvSpPr>
        <p:spPr>
          <a:xfrm>
            <a:off x="6888480" y="4848939"/>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6"/>
            </a:pPr>
            <a:r>
              <a:rPr lang="en-US" sz="1550" b="1" dirty="0">
                <a:solidFill>
                  <a:srgbClr val="030303"/>
                </a:solidFill>
                <a:latin typeface="Roboto Bold" pitchFamily="34" charset="0"/>
                <a:ea typeface="Roboto Bold" pitchFamily="34" charset="-122"/>
                <a:cs typeface="Roboto Bold" pitchFamily="34" charset="-120"/>
              </a:rPr>
              <a:t>Analyze cluster composition</a:t>
            </a:r>
            <a:endParaRPr lang="en-US" sz="1550" dirty="0"/>
          </a:p>
        </p:txBody>
      </p:sp>
      <p:sp>
        <p:nvSpPr>
          <p:cNvPr id="17" name="Text 15"/>
          <p:cNvSpPr/>
          <p:nvPr/>
        </p:nvSpPr>
        <p:spPr>
          <a:xfrm>
            <a:off x="6888480" y="5315307"/>
            <a:ext cx="6955631" cy="396954"/>
          </a:xfrm>
          <a:prstGeom prst="rect">
            <a:avLst/>
          </a:prstGeom>
          <a:noFill/>
          <a:ln/>
        </p:spPr>
        <p:txBody>
          <a:bodyPr wrap="none" lIns="0" tIns="0" rIns="0" bIns="0" rtlCol="0" anchor="t"/>
          <a:lstStyle/>
          <a:p>
            <a:pPr algn="l" marL="342900" indent="-342900">
              <a:lnSpc>
                <a:spcPts val="2500"/>
              </a:lnSpc>
              <a:buSzPct val="100000"/>
              <a:buFont typeface="+mj-lt"/>
              <a:buAutoNum type="arabicPeriod" startAt="7"/>
            </a:pPr>
            <a:r>
              <a:rPr lang="en-US" sz="1550" b="1" dirty="0">
                <a:solidFill>
                  <a:srgbClr val="030303"/>
                </a:solidFill>
                <a:latin typeface="Roboto Bold" pitchFamily="34" charset="0"/>
                <a:ea typeface="Roboto Bold" pitchFamily="34" charset="-122"/>
                <a:cs typeface="Roboto Bold" pitchFamily="34" charset="-120"/>
              </a:rPr>
              <a:t>Identify potential data lineage paths</a:t>
            </a:r>
            <a:endParaRPr lang="en-US" sz="1550" dirty="0"/>
          </a:p>
        </p:txBody>
      </p:sp>
      <p:sp>
        <p:nvSpPr>
          <p:cNvPr id="18" name="Text 16"/>
          <p:cNvSpPr/>
          <p:nvPr/>
        </p:nvSpPr>
        <p:spPr>
          <a:xfrm>
            <a:off x="6888480" y="5890855"/>
            <a:ext cx="6955631" cy="1190863"/>
          </a:xfrm>
          <a:prstGeom prst="rect">
            <a:avLst/>
          </a:prstGeom>
          <a:noFill/>
          <a:ln/>
        </p:spPr>
        <p:txBody>
          <a:bodyPr wrap="square" lIns="0" tIns="0" rIns="0" bIns="0" rtlCol="0" anchor="t"/>
          <a:lstStyle/>
          <a:p>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Expected Outcome:</a:t>
            </a:r>
            <a:pPr algn="l" indent="0" marL="0">
              <a:lnSpc>
                <a:spcPts val="3100"/>
              </a:lnSpc>
              <a:buNone/>
            </a:pPr>
            <a:r>
              <a:rPr lang="en-US" sz="1950" b="1" dirty="0">
                <a:solidFill>
                  <a:srgbClr val="030303"/>
                </a:solidFill>
                <a:latin typeface="Roboto Bold" pitchFamily="34" charset="0"/>
                <a:ea typeface="Roboto Bold" pitchFamily="34" charset="-122"/>
                <a:cs typeface="Roboto Bold" pitchFamily="34" charset="-120"/>
              </a:rPr>
              <a:t> You'll see how files group into families based on similarity, revealing modification patterns and potential exfiltration routes.</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52582"/>
            <a:ext cx="7182922" cy="465177"/>
          </a:xfrm>
          <a:prstGeom prst="rect">
            <a:avLst/>
          </a:prstGeom>
          <a:noFill/>
          <a:ln/>
        </p:spPr>
        <p:txBody>
          <a:bodyPr wrap="none" lIns="0" tIns="0" rIns="0" bIns="0" rtlCol="0" anchor="t"/>
          <a:lstStyle/>
          <a:p>
            <a:pPr algn="l" indent="0" marL="0">
              <a:lnSpc>
                <a:spcPts val="3650"/>
              </a:lnSpc>
              <a:buNone/>
            </a:pPr>
            <a:r>
              <a:rPr lang="en-US" sz="2900" b="1" dirty="0">
                <a:solidFill>
                  <a:srgbClr val="030303"/>
                </a:solidFill>
                <a:latin typeface="Raleway Extra Bold" pitchFamily="34" charset="0"/>
                <a:ea typeface="Raleway Extra Bold" pitchFamily="34" charset="-122"/>
                <a:cs typeface="Raleway Extra Bold" pitchFamily="34" charset="-120"/>
              </a:rPr>
              <a:t>Lab 2: Cross-Language Testing in Action</a:t>
            </a:r>
            <a:endParaRPr lang="en-US" sz="2900" dirty="0"/>
          </a:p>
        </p:txBody>
      </p:sp>
      <p:sp>
        <p:nvSpPr>
          <p:cNvPr id="3" name="Text 1"/>
          <p:cNvSpPr/>
          <p:nvPr/>
        </p:nvSpPr>
        <p:spPr>
          <a:xfrm>
            <a:off x="793790" y="1415415"/>
            <a:ext cx="13042821"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The String Reverser Challenge</a:t>
            </a:r>
            <a:endParaRPr lang="en-US" sz="1450" dirty="0"/>
          </a:p>
        </p:txBody>
      </p:sp>
      <p:sp>
        <p:nvSpPr>
          <p:cNvPr id="4" name="Text 2"/>
          <p:cNvSpPr/>
          <p:nvPr/>
        </p:nvSpPr>
        <p:spPr>
          <a:xfrm>
            <a:off x="793790" y="1880473"/>
            <a:ext cx="13042821" cy="595313"/>
          </a:xfrm>
          <a:prstGeom prst="rect">
            <a:avLst/>
          </a:prstGeom>
          <a:noFill/>
          <a:ln/>
        </p:spPr>
        <p:txBody>
          <a:bodyPr wrap="squar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This lab illustrates a common enterprise pattern: prototyping in Python for speed, implementing in Go for performance, and testing with Python for consistency. You'll build both versions and create a unified test suite.</a:t>
            </a:r>
            <a:endParaRPr lang="en-US" sz="1450" dirty="0"/>
          </a:p>
        </p:txBody>
      </p:sp>
      <p:sp>
        <p:nvSpPr>
          <p:cNvPr id="5" name="Shape 3"/>
          <p:cNvSpPr/>
          <p:nvPr/>
        </p:nvSpPr>
        <p:spPr>
          <a:xfrm>
            <a:off x="793790" y="2643188"/>
            <a:ext cx="6446996" cy="446484"/>
          </a:xfrm>
          <a:prstGeom prst="roundRect">
            <a:avLst>
              <a:gd name="adj" fmla="val 480091"/>
            </a:avLst>
          </a:prstGeom>
          <a:solidFill>
            <a:srgbClr val="E6E6E6"/>
          </a:solidFill>
          <a:ln w="7620">
            <a:solidFill>
              <a:srgbClr val="CCCCCC"/>
            </a:solidFill>
            <a:prstDash val="solid"/>
          </a:ln>
        </p:spPr>
      </p:sp>
      <p:sp>
        <p:nvSpPr>
          <p:cNvPr id="6" name="Text 4"/>
          <p:cNvSpPr/>
          <p:nvPr/>
        </p:nvSpPr>
        <p:spPr>
          <a:xfrm>
            <a:off x="3905607" y="272688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030303"/>
                </a:solidFill>
                <a:latin typeface="Raleway Extra Bold" pitchFamily="34" charset="0"/>
                <a:ea typeface="Raleway Extra Bold" pitchFamily="34" charset="-122"/>
                <a:cs typeface="Raleway Extra Bold" pitchFamily="34" charset="-120"/>
              </a:rPr>
              <a:t>1</a:t>
            </a:r>
            <a:endParaRPr lang="en-US" sz="1750" dirty="0"/>
          </a:p>
        </p:txBody>
      </p:sp>
      <p:sp>
        <p:nvSpPr>
          <p:cNvPr id="7" name="Text 5"/>
          <p:cNvSpPr/>
          <p:nvPr/>
        </p:nvSpPr>
        <p:spPr>
          <a:xfrm>
            <a:off x="942618" y="3238500"/>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Python Implementation</a:t>
            </a:r>
            <a:endParaRPr lang="en-US" sz="1450" dirty="0"/>
          </a:p>
        </p:txBody>
      </p:sp>
      <p:sp>
        <p:nvSpPr>
          <p:cNvPr id="8" name="Text 6"/>
          <p:cNvSpPr/>
          <p:nvPr/>
        </p:nvSpPr>
        <p:spPr>
          <a:xfrm>
            <a:off x="942618" y="3625453"/>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Quick POC using Python string slicing</a:t>
            </a:r>
            <a:endParaRPr lang="en-US" sz="1450" dirty="0"/>
          </a:p>
        </p:txBody>
      </p:sp>
      <p:sp>
        <p:nvSpPr>
          <p:cNvPr id="9" name="Shape 7"/>
          <p:cNvSpPr/>
          <p:nvPr/>
        </p:nvSpPr>
        <p:spPr>
          <a:xfrm>
            <a:off x="7389614" y="2643188"/>
            <a:ext cx="6446996" cy="446484"/>
          </a:xfrm>
          <a:prstGeom prst="roundRect">
            <a:avLst>
              <a:gd name="adj" fmla="val 480091"/>
            </a:avLst>
          </a:prstGeom>
          <a:solidFill>
            <a:srgbClr val="E6E6E6"/>
          </a:solidFill>
          <a:ln w="7620">
            <a:solidFill>
              <a:srgbClr val="CCCCCC"/>
            </a:solidFill>
            <a:prstDash val="solid"/>
          </a:ln>
        </p:spPr>
      </p:sp>
      <p:sp>
        <p:nvSpPr>
          <p:cNvPr id="10" name="Text 8"/>
          <p:cNvSpPr/>
          <p:nvPr/>
        </p:nvSpPr>
        <p:spPr>
          <a:xfrm>
            <a:off x="10501432" y="2726888"/>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030303"/>
                </a:solidFill>
                <a:latin typeface="Raleway Extra Bold" pitchFamily="34" charset="0"/>
                <a:ea typeface="Raleway Extra Bold" pitchFamily="34" charset="-122"/>
                <a:cs typeface="Raleway Extra Bold" pitchFamily="34" charset="-120"/>
              </a:rPr>
              <a:t>2</a:t>
            </a:r>
            <a:endParaRPr lang="en-US" sz="1750" dirty="0"/>
          </a:p>
        </p:txBody>
      </p:sp>
      <p:sp>
        <p:nvSpPr>
          <p:cNvPr id="11" name="Text 9"/>
          <p:cNvSpPr/>
          <p:nvPr/>
        </p:nvSpPr>
        <p:spPr>
          <a:xfrm>
            <a:off x="7538442" y="3238500"/>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Go Implementation</a:t>
            </a:r>
            <a:endParaRPr lang="en-US" sz="1450" dirty="0"/>
          </a:p>
        </p:txBody>
      </p:sp>
      <p:sp>
        <p:nvSpPr>
          <p:cNvPr id="12" name="Text 10"/>
          <p:cNvSpPr/>
          <p:nvPr/>
        </p:nvSpPr>
        <p:spPr>
          <a:xfrm>
            <a:off x="7538442" y="3625453"/>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Compiled binary with equivalent logic</a:t>
            </a:r>
            <a:endParaRPr lang="en-US" sz="1450" dirty="0"/>
          </a:p>
        </p:txBody>
      </p:sp>
      <p:sp>
        <p:nvSpPr>
          <p:cNvPr id="13" name="Shape 11"/>
          <p:cNvSpPr/>
          <p:nvPr/>
        </p:nvSpPr>
        <p:spPr>
          <a:xfrm>
            <a:off x="793790" y="4220766"/>
            <a:ext cx="6446996" cy="446484"/>
          </a:xfrm>
          <a:prstGeom prst="roundRect">
            <a:avLst>
              <a:gd name="adj" fmla="val 480091"/>
            </a:avLst>
          </a:prstGeom>
          <a:solidFill>
            <a:srgbClr val="E6E6E6"/>
          </a:solidFill>
          <a:ln w="7620">
            <a:solidFill>
              <a:srgbClr val="CCCCCC"/>
            </a:solidFill>
            <a:prstDash val="solid"/>
          </a:ln>
        </p:spPr>
      </p:sp>
      <p:sp>
        <p:nvSpPr>
          <p:cNvPr id="14" name="Text 12"/>
          <p:cNvSpPr/>
          <p:nvPr/>
        </p:nvSpPr>
        <p:spPr>
          <a:xfrm>
            <a:off x="3905607" y="4304467"/>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030303"/>
                </a:solidFill>
                <a:latin typeface="Raleway Extra Bold" pitchFamily="34" charset="0"/>
                <a:ea typeface="Raleway Extra Bold" pitchFamily="34" charset="-122"/>
                <a:cs typeface="Raleway Extra Bold" pitchFamily="34" charset="-120"/>
              </a:rPr>
              <a:t>3</a:t>
            </a:r>
            <a:endParaRPr lang="en-US" sz="1750" dirty="0"/>
          </a:p>
        </p:txBody>
      </p:sp>
      <p:sp>
        <p:nvSpPr>
          <p:cNvPr id="15" name="Text 13"/>
          <p:cNvSpPr/>
          <p:nvPr/>
        </p:nvSpPr>
        <p:spPr>
          <a:xfrm>
            <a:off x="942618" y="4816078"/>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Test Suite Creation</a:t>
            </a:r>
            <a:endParaRPr lang="en-US" sz="1450" dirty="0"/>
          </a:p>
        </p:txBody>
      </p:sp>
      <p:sp>
        <p:nvSpPr>
          <p:cNvPr id="16" name="Text 14"/>
          <p:cNvSpPr/>
          <p:nvPr/>
        </p:nvSpPr>
        <p:spPr>
          <a:xfrm>
            <a:off x="942618" y="5203031"/>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pytest cases for both versions</a:t>
            </a:r>
            <a:endParaRPr lang="en-US" sz="1450" dirty="0"/>
          </a:p>
        </p:txBody>
      </p:sp>
      <p:sp>
        <p:nvSpPr>
          <p:cNvPr id="17" name="Shape 15"/>
          <p:cNvSpPr/>
          <p:nvPr/>
        </p:nvSpPr>
        <p:spPr>
          <a:xfrm>
            <a:off x="7389614" y="4220766"/>
            <a:ext cx="6446996" cy="446484"/>
          </a:xfrm>
          <a:prstGeom prst="roundRect">
            <a:avLst>
              <a:gd name="adj" fmla="val 480091"/>
            </a:avLst>
          </a:prstGeom>
          <a:solidFill>
            <a:srgbClr val="E6E6E6"/>
          </a:solidFill>
          <a:ln w="7620">
            <a:solidFill>
              <a:srgbClr val="CCCCCC"/>
            </a:solidFill>
            <a:prstDash val="solid"/>
          </a:ln>
        </p:spPr>
      </p:sp>
      <p:sp>
        <p:nvSpPr>
          <p:cNvPr id="18" name="Text 16"/>
          <p:cNvSpPr/>
          <p:nvPr/>
        </p:nvSpPr>
        <p:spPr>
          <a:xfrm>
            <a:off x="10501432" y="4304467"/>
            <a:ext cx="223242" cy="279083"/>
          </a:xfrm>
          <a:prstGeom prst="rect">
            <a:avLst/>
          </a:prstGeom>
          <a:noFill/>
          <a:ln/>
        </p:spPr>
        <p:txBody>
          <a:bodyPr wrap="none" lIns="0" tIns="0" rIns="0" bIns="0" rtlCol="0" anchor="t"/>
          <a:lstStyle/>
          <a:p>
            <a:pPr algn="l" indent="0" marL="0">
              <a:lnSpc>
                <a:spcPts val="1750"/>
              </a:lnSpc>
              <a:buNone/>
            </a:pPr>
            <a:r>
              <a:rPr lang="en-US" sz="1750" b="1" dirty="0">
                <a:solidFill>
                  <a:srgbClr val="030303"/>
                </a:solidFill>
                <a:latin typeface="Raleway Extra Bold" pitchFamily="34" charset="0"/>
                <a:ea typeface="Raleway Extra Bold" pitchFamily="34" charset="-122"/>
                <a:cs typeface="Raleway Extra Bold" pitchFamily="34" charset="-120"/>
              </a:rPr>
              <a:t>4</a:t>
            </a:r>
            <a:endParaRPr lang="en-US" sz="1750" dirty="0"/>
          </a:p>
        </p:txBody>
      </p:sp>
      <p:sp>
        <p:nvSpPr>
          <p:cNvPr id="19" name="Text 17"/>
          <p:cNvSpPr/>
          <p:nvPr/>
        </p:nvSpPr>
        <p:spPr>
          <a:xfrm>
            <a:off x="7538442" y="4816078"/>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Validation</a:t>
            </a:r>
            <a:endParaRPr lang="en-US" sz="1450" dirty="0"/>
          </a:p>
        </p:txBody>
      </p:sp>
      <p:sp>
        <p:nvSpPr>
          <p:cNvPr id="20" name="Text 18"/>
          <p:cNvSpPr/>
          <p:nvPr/>
        </p:nvSpPr>
        <p:spPr>
          <a:xfrm>
            <a:off x="7538442" y="5203031"/>
            <a:ext cx="6149340" cy="297656"/>
          </a:xfrm>
          <a:prstGeom prst="rect">
            <a:avLst/>
          </a:prstGeom>
          <a:noFill/>
          <a:ln/>
        </p:spPr>
        <p:txBody>
          <a:bodyPr wrap="non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Verify identical behavior</a:t>
            </a:r>
            <a:endParaRPr lang="en-US" sz="1450" dirty="0"/>
          </a:p>
        </p:txBody>
      </p:sp>
      <p:sp>
        <p:nvSpPr>
          <p:cNvPr id="21" name="Text 19"/>
          <p:cNvSpPr/>
          <p:nvPr/>
        </p:nvSpPr>
        <p:spPr>
          <a:xfrm>
            <a:off x="793790" y="5816918"/>
            <a:ext cx="13042821" cy="602933"/>
          </a:xfrm>
          <a:prstGeom prst="rect">
            <a:avLst/>
          </a:prstGeom>
          <a:noFill/>
          <a:ln/>
        </p:spPr>
        <p:txBody>
          <a:bodyPr wrap="square" lIns="0" tIns="0" rIns="0" bIns="0" rtlCol="0" anchor="t"/>
          <a:lstStyle/>
          <a:p>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The test file </a:t>
            </a:r>
            <a:pPr algn="l" indent="0" marL="0">
              <a:lnSpc>
                <a:spcPts val="2300"/>
              </a:lnSpc>
              <a:buNone/>
            </a:pPr>
            <a:r>
              <a:rPr lang="en-US" sz="1450" b="1" dirty="0">
                <a:solidFill>
                  <a:srgbClr val="030303"/>
                </a:solidFill>
                <a:highlight>
                  <a:srgbClr val="F2F2F2"/>
                </a:highlight>
                <a:latin typeface="Consolas" pitchFamily="34" charset="0"/>
                <a:ea typeface="Consolas" pitchFamily="34" charset="-122"/>
                <a:cs typeface="Consolas" pitchFamily="34" charset="-120"/>
              </a:rPr>
              <a:t>test_string_reverser.py</a:t>
            </a:r>
            <a:pPr algn="l" indent="0" marL="0">
              <a:lnSpc>
                <a:spcPts val="2300"/>
              </a:lnSpc>
              <a:buNone/>
            </a:pPr>
            <a:r>
              <a:rPr lang="en-US" sz="1450" b="1" dirty="0">
                <a:solidFill>
                  <a:srgbClr val="030303"/>
                </a:solidFill>
                <a:latin typeface="Roboto Bold" pitchFamily="34" charset="0"/>
                <a:ea typeface="Roboto Bold" pitchFamily="34" charset="-122"/>
                <a:cs typeface="Roboto Bold" pitchFamily="34" charset="-120"/>
              </a:rPr>
              <a:t> will import the Python function and use subprocess to call the Go binary. Both are tested with identical test cases using pytest's parametrize feature, ensuring complete behavioral equivalence.</a:t>
            </a:r>
            <a:endParaRPr lang="en-US" sz="1450" dirty="0"/>
          </a:p>
        </p:txBody>
      </p:sp>
      <p:sp>
        <p:nvSpPr>
          <p:cNvPr id="22" name="Shape 20"/>
          <p:cNvSpPr/>
          <p:nvPr/>
        </p:nvSpPr>
        <p:spPr>
          <a:xfrm>
            <a:off x="793790" y="6587252"/>
            <a:ext cx="13042821" cy="989648"/>
          </a:xfrm>
          <a:prstGeom prst="roundRect">
            <a:avLst>
              <a:gd name="adj" fmla="val 6317"/>
            </a:avLst>
          </a:prstGeom>
          <a:solidFill>
            <a:srgbClr val="D9D9D9"/>
          </a:solidFill>
          <a:ln/>
        </p:spPr>
      </p:sp>
      <p:pic>
        <p:nvPicPr>
          <p:cNvPr id="23" name="Image 0" descr="preencoded.png">    </p:cNvPr>
          <p:cNvPicPr>
            <a:picLocks noChangeAspect="1"/>
          </p:cNvPicPr>
          <p:nvPr/>
        </p:nvPicPr>
        <p:blipFill>
          <a:blip r:embed="rId1"/>
          <a:stretch>
            <a:fillRect/>
          </a:stretch>
        </p:blipFill>
        <p:spPr>
          <a:xfrm>
            <a:off x="942618" y="6823829"/>
            <a:ext cx="232529" cy="185976"/>
          </a:xfrm>
          <a:prstGeom prst="rect">
            <a:avLst/>
          </a:prstGeom>
        </p:spPr>
      </p:pic>
      <p:sp>
        <p:nvSpPr>
          <p:cNvPr id="24" name="Text 21"/>
          <p:cNvSpPr/>
          <p:nvPr/>
        </p:nvSpPr>
        <p:spPr>
          <a:xfrm>
            <a:off x="1323975" y="6773228"/>
            <a:ext cx="12363807" cy="595313"/>
          </a:xfrm>
          <a:prstGeom prst="rect">
            <a:avLst/>
          </a:prstGeom>
          <a:noFill/>
          <a:ln/>
        </p:spPr>
        <p:txBody>
          <a:bodyPr wrap="square" lIns="0" tIns="0" rIns="0" bIns="0" rtlCol="0" anchor="t"/>
          <a:lstStyle/>
          <a:p>
            <a:pPr algn="l" indent="0" marL="0">
              <a:lnSpc>
                <a:spcPts val="2300"/>
              </a:lnSpc>
              <a:buNone/>
            </a:pPr>
            <a:r>
              <a:rPr lang="en-US" sz="1450" b="1" dirty="0">
                <a:solidFill>
                  <a:srgbClr val="000000"/>
                </a:solidFill>
                <a:latin typeface="Roboto Bold" pitchFamily="34" charset="0"/>
                <a:ea typeface="Roboto Bold" pitchFamily="34" charset="-122"/>
                <a:cs typeface="Roboto Bold" pitchFamily="34" charset="-120"/>
              </a:rPr>
              <a:t>Real-World Impact:</a:t>
            </a:r>
            <a:pPr algn="l" indent="0" marL="0">
              <a:lnSpc>
                <a:spcPts val="2300"/>
              </a:lnSpc>
              <a:buNone/>
            </a:pPr>
            <a:r>
              <a:rPr lang="en-US" sz="1450" b="1" dirty="0">
                <a:solidFill>
                  <a:srgbClr val="000000"/>
                </a:solidFill>
                <a:latin typeface="Roboto Bold" pitchFamily="34" charset="0"/>
                <a:ea typeface="Roboto Bold" pitchFamily="34" charset="-122"/>
                <a:cs typeface="Roboto Bold" pitchFamily="34" charset="-120"/>
              </a:rPr>
              <a:t> This pattern enables teams to switch implementations without changing tests, supporting performance optimization and technology migrations with confidence.</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87348"/>
            <a:ext cx="9245322" cy="527090"/>
          </a:xfrm>
          <a:prstGeom prst="rect">
            <a:avLst/>
          </a:prstGeom>
          <a:noFill/>
          <a:ln/>
        </p:spPr>
        <p:txBody>
          <a:bodyPr wrap="none" lIns="0" tIns="0" rIns="0" bIns="0" rtlCol="0" anchor="t"/>
          <a:lstStyle/>
          <a:p>
            <a:pPr algn="l" indent="0" marL="0">
              <a:lnSpc>
                <a:spcPts val="4150"/>
              </a:lnSpc>
              <a:buNone/>
            </a:pPr>
            <a:r>
              <a:rPr lang="en-US" sz="3300" b="1" dirty="0">
                <a:solidFill>
                  <a:srgbClr val="030303"/>
                </a:solidFill>
                <a:latin typeface="Raleway Extra Bold" pitchFamily="34" charset="0"/>
                <a:ea typeface="Raleway Extra Bold" pitchFamily="34" charset="-122"/>
                <a:cs typeface="Raleway Extra Bold" pitchFamily="34" charset="-120"/>
              </a:rPr>
              <a:t>Lab 3: CI/CD Automation with GitHub Actions</a:t>
            </a:r>
            <a:endParaRPr lang="en-US" sz="3300" dirty="0"/>
          </a:p>
        </p:txBody>
      </p:sp>
      <p:sp>
        <p:nvSpPr>
          <p:cNvPr id="3" name="Text 1"/>
          <p:cNvSpPr/>
          <p:nvPr/>
        </p:nvSpPr>
        <p:spPr>
          <a:xfrm>
            <a:off x="793790" y="1619250"/>
            <a:ext cx="6315670" cy="337304"/>
          </a:xfrm>
          <a:prstGeom prst="rect">
            <a:avLst/>
          </a:prstGeom>
          <a:noFill/>
          <a:ln/>
        </p:spPr>
        <p:txBody>
          <a:bodyPr wrap="none" lIns="0" tIns="0" rIns="0" bIns="0" rtlCol="0" anchor="t"/>
          <a:lstStyle/>
          <a:p>
            <a:pPr algn="l" indent="0" marL="0">
              <a:lnSpc>
                <a:spcPts val="2650"/>
              </a:lnSpc>
              <a:buNone/>
            </a:pPr>
            <a:r>
              <a:rPr lang="en-US" sz="1650" b="1" dirty="0">
                <a:solidFill>
                  <a:srgbClr val="030303"/>
                </a:solidFill>
                <a:latin typeface="Roboto Bold" pitchFamily="34" charset="0"/>
                <a:ea typeface="Roboto Bold" pitchFamily="34" charset="-122"/>
                <a:cs typeface="Roboto Bold" pitchFamily="34" charset="-120"/>
              </a:rPr>
              <a:t>Automating Your Workflow</a:t>
            </a:r>
            <a:endParaRPr lang="en-US" sz="1650" dirty="0"/>
          </a:p>
        </p:txBody>
      </p:sp>
      <p:sp>
        <p:nvSpPr>
          <p:cNvPr id="4" name="Text 2"/>
          <p:cNvSpPr/>
          <p:nvPr/>
        </p:nvSpPr>
        <p:spPr>
          <a:xfrm>
            <a:off x="793790" y="2108359"/>
            <a:ext cx="6315670" cy="1349216"/>
          </a:xfrm>
          <a:prstGeom prst="rect">
            <a:avLst/>
          </a:prstGeom>
          <a:noFill/>
          <a:ln/>
        </p:spPr>
        <p:txBody>
          <a:bodyPr wrap="square" lIns="0" tIns="0" rIns="0" bIns="0" rtlCol="0" anchor="t"/>
          <a:lstStyle/>
          <a:p>
            <a:pPr algn="l" indent="0" marL="0">
              <a:lnSpc>
                <a:spcPts val="2650"/>
              </a:lnSpc>
              <a:buNone/>
            </a:pPr>
            <a:r>
              <a:rPr lang="en-US" sz="1650" b="1" dirty="0">
                <a:solidFill>
                  <a:srgbClr val="030303"/>
                </a:solidFill>
                <a:latin typeface="Roboto Bold" pitchFamily="34" charset="0"/>
                <a:ea typeface="Roboto Bold" pitchFamily="34" charset="-122"/>
                <a:cs typeface="Roboto Bold" pitchFamily="34" charset="-120"/>
              </a:rPr>
              <a:t>The optional third lab takes your testing to the next level by integrating with GitHub Actions. You'll experience how Python tests become part of an automated CI/CD pipeline that runs on every code change.</a:t>
            </a:r>
            <a:endParaRPr lang="en-US" sz="1650" dirty="0"/>
          </a:p>
        </p:txBody>
      </p:sp>
      <p:sp>
        <p:nvSpPr>
          <p:cNvPr id="5" name="Text 3"/>
          <p:cNvSpPr/>
          <p:nvPr/>
        </p:nvSpPr>
        <p:spPr>
          <a:xfrm>
            <a:off x="793790" y="3609380"/>
            <a:ext cx="6315670" cy="337304"/>
          </a:xfrm>
          <a:prstGeom prst="rect">
            <a:avLst/>
          </a:prstGeom>
          <a:noFill/>
          <a:ln/>
        </p:spPr>
        <p:txBody>
          <a:bodyPr wrap="none" lIns="0" tIns="0" rIns="0" bIns="0" rtlCol="0" anchor="t"/>
          <a:lstStyle/>
          <a:p>
            <a:pPr algn="l" indent="0" marL="0">
              <a:lnSpc>
                <a:spcPts val="2650"/>
              </a:lnSpc>
              <a:buNone/>
            </a:pPr>
            <a:r>
              <a:rPr lang="en-US" sz="1650" b="1" dirty="0">
                <a:solidFill>
                  <a:srgbClr val="030303"/>
                </a:solidFill>
                <a:latin typeface="Roboto Bold" pitchFamily="34" charset="0"/>
                <a:ea typeface="Roboto Bold" pitchFamily="34" charset="-122"/>
                <a:cs typeface="Roboto Bold" pitchFamily="34" charset="-120"/>
              </a:rPr>
              <a:t>What You'll Build</a:t>
            </a:r>
            <a:endParaRPr lang="en-US" sz="1650" dirty="0"/>
          </a:p>
        </p:txBody>
      </p:sp>
      <p:sp>
        <p:nvSpPr>
          <p:cNvPr id="6" name="Text 4"/>
          <p:cNvSpPr/>
          <p:nvPr/>
        </p:nvSpPr>
        <p:spPr>
          <a:xfrm>
            <a:off x="793790" y="4098488"/>
            <a:ext cx="6315670" cy="337304"/>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030303"/>
                </a:solidFill>
                <a:latin typeface="Roboto Bold" pitchFamily="34" charset="0"/>
                <a:ea typeface="Roboto Bold" pitchFamily="34" charset="-122"/>
                <a:cs typeface="Roboto Bold" pitchFamily="34" charset="-120"/>
              </a:rPr>
              <a:t>GitHub Actions workflow YAML configuration</a:t>
            </a:r>
            <a:endParaRPr lang="en-US" sz="1300" dirty="0"/>
          </a:p>
        </p:txBody>
      </p:sp>
      <p:sp>
        <p:nvSpPr>
          <p:cNvPr id="7" name="Text 5"/>
          <p:cNvSpPr/>
          <p:nvPr/>
        </p:nvSpPr>
        <p:spPr>
          <a:xfrm>
            <a:off x="793790" y="4494728"/>
            <a:ext cx="6315670" cy="337304"/>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030303"/>
                </a:solidFill>
                <a:latin typeface="Roboto Bold" pitchFamily="34" charset="0"/>
                <a:ea typeface="Roboto Bold" pitchFamily="34" charset="-122"/>
                <a:cs typeface="Roboto Bold" pitchFamily="34" charset="-120"/>
              </a:rPr>
              <a:t>Multi-platform test matrix (Linux, Windows, macOS)</a:t>
            </a:r>
            <a:endParaRPr lang="en-US" sz="1300" dirty="0"/>
          </a:p>
        </p:txBody>
      </p:sp>
      <p:sp>
        <p:nvSpPr>
          <p:cNvPr id="8" name="Text 6"/>
          <p:cNvSpPr/>
          <p:nvPr/>
        </p:nvSpPr>
        <p:spPr>
          <a:xfrm>
            <a:off x="793790" y="4890968"/>
            <a:ext cx="6315670" cy="337304"/>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030303"/>
                </a:solidFill>
                <a:latin typeface="Roboto Bold" pitchFamily="34" charset="0"/>
                <a:ea typeface="Roboto Bold" pitchFamily="34" charset="-122"/>
                <a:cs typeface="Roboto Bold" pitchFamily="34" charset="-120"/>
              </a:rPr>
              <a:t>Automated pytest execution</a:t>
            </a:r>
            <a:endParaRPr lang="en-US" sz="1300" dirty="0"/>
          </a:p>
        </p:txBody>
      </p:sp>
      <p:sp>
        <p:nvSpPr>
          <p:cNvPr id="9" name="Text 7"/>
          <p:cNvSpPr/>
          <p:nvPr/>
        </p:nvSpPr>
        <p:spPr>
          <a:xfrm>
            <a:off x="793790" y="5287208"/>
            <a:ext cx="6315670" cy="337304"/>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030303"/>
                </a:solidFill>
                <a:latin typeface="Roboto Bold" pitchFamily="34" charset="0"/>
                <a:ea typeface="Roboto Bold" pitchFamily="34" charset="-122"/>
                <a:cs typeface="Roboto Bold" pitchFamily="34" charset="-120"/>
              </a:rPr>
              <a:t>HTML report generation and artifact upload</a:t>
            </a:r>
            <a:endParaRPr lang="en-US" sz="1300" dirty="0"/>
          </a:p>
        </p:txBody>
      </p:sp>
      <p:sp>
        <p:nvSpPr>
          <p:cNvPr id="10" name="Text 8"/>
          <p:cNvSpPr/>
          <p:nvPr/>
        </p:nvSpPr>
        <p:spPr>
          <a:xfrm>
            <a:off x="793790" y="5683448"/>
            <a:ext cx="6315670" cy="337304"/>
          </a:xfrm>
          <a:prstGeom prst="rect">
            <a:avLst/>
          </a:prstGeom>
          <a:noFill/>
          <a:ln/>
        </p:spPr>
        <p:txBody>
          <a:bodyPr wrap="none" lIns="0" tIns="0" rIns="0" bIns="0" rtlCol="0" anchor="t"/>
          <a:lstStyle/>
          <a:p>
            <a:pPr algn="l" marL="342900" indent="-342900">
              <a:lnSpc>
                <a:spcPts val="2100"/>
              </a:lnSpc>
              <a:buSzPct val="100000"/>
              <a:buChar char="•"/>
            </a:pPr>
            <a:r>
              <a:rPr lang="en-US" sz="1300" b="1" dirty="0">
                <a:solidFill>
                  <a:srgbClr val="030303"/>
                </a:solidFill>
                <a:latin typeface="Roboto Bold" pitchFamily="34" charset="0"/>
                <a:ea typeface="Roboto Bold" pitchFamily="34" charset="-122"/>
                <a:cs typeface="Roboto Bold" pitchFamily="34" charset="-120"/>
              </a:rPr>
              <a:t>Build status badges for your repository</a:t>
            </a:r>
            <a:endParaRPr lang="en-US" sz="1300" dirty="0"/>
          </a:p>
        </p:txBody>
      </p:sp>
      <p:sp>
        <p:nvSpPr>
          <p:cNvPr id="11" name="Text 9"/>
          <p:cNvSpPr/>
          <p:nvPr/>
        </p:nvSpPr>
        <p:spPr>
          <a:xfrm>
            <a:off x="7528560" y="1636038"/>
            <a:ext cx="2449711" cy="263485"/>
          </a:xfrm>
          <a:prstGeom prst="rect">
            <a:avLst/>
          </a:prstGeom>
          <a:noFill/>
          <a:ln/>
        </p:spPr>
        <p:txBody>
          <a:bodyPr wrap="none" lIns="0" tIns="0" rIns="0" bIns="0" rtlCol="0" anchor="t"/>
          <a:lstStyle/>
          <a:p>
            <a:pPr algn="l" indent="0" marL="0">
              <a:lnSpc>
                <a:spcPts val="2050"/>
              </a:lnSpc>
              <a:buNone/>
            </a:pPr>
            <a:r>
              <a:rPr lang="en-US" sz="1650" b="1" dirty="0">
                <a:solidFill>
                  <a:srgbClr val="030303"/>
                </a:solidFill>
                <a:latin typeface="Raleway Extra Bold" pitchFamily="34" charset="0"/>
                <a:ea typeface="Raleway Extra Bold" pitchFamily="34" charset="-122"/>
                <a:cs typeface="Raleway Extra Bold" pitchFamily="34" charset="-120"/>
              </a:rPr>
              <a:t>Workflow Configuration</a:t>
            </a:r>
            <a:endParaRPr lang="en-US" sz="1650" dirty="0"/>
          </a:p>
        </p:txBody>
      </p:sp>
      <p:sp>
        <p:nvSpPr>
          <p:cNvPr id="12" name="Shape 10"/>
          <p:cNvSpPr/>
          <p:nvPr/>
        </p:nvSpPr>
        <p:spPr>
          <a:xfrm>
            <a:off x="7528560" y="2089309"/>
            <a:ext cx="6315670" cy="4571524"/>
          </a:xfrm>
          <a:prstGeom prst="roundRect">
            <a:avLst>
              <a:gd name="adj" fmla="val 1550"/>
            </a:avLst>
          </a:prstGeom>
          <a:solidFill>
            <a:srgbClr val="F2F2F2"/>
          </a:solidFill>
          <a:ln/>
        </p:spPr>
      </p:sp>
      <p:sp>
        <p:nvSpPr>
          <p:cNvPr id="13" name="Shape 11"/>
          <p:cNvSpPr/>
          <p:nvPr/>
        </p:nvSpPr>
        <p:spPr>
          <a:xfrm>
            <a:off x="7520226" y="2089309"/>
            <a:ext cx="6332339" cy="4571524"/>
          </a:xfrm>
          <a:prstGeom prst="roundRect">
            <a:avLst>
              <a:gd name="adj" fmla="val 554"/>
            </a:avLst>
          </a:prstGeom>
          <a:solidFill>
            <a:srgbClr val="F2F2F2"/>
          </a:solidFill>
          <a:ln/>
        </p:spPr>
      </p:sp>
      <p:sp>
        <p:nvSpPr>
          <p:cNvPr id="14" name="Text 12"/>
          <p:cNvSpPr/>
          <p:nvPr/>
        </p:nvSpPr>
        <p:spPr>
          <a:xfrm>
            <a:off x="7688818" y="2215753"/>
            <a:ext cx="5995154" cy="4318635"/>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highlight>
                  <a:srgbClr val="F2F2F2"/>
                </a:highlight>
                <a:latin typeface="Consolas Bold" pitchFamily="34" charset="0"/>
                <a:ea typeface="Consolas Bold" pitchFamily="34" charset="-122"/>
                <a:cs typeface="Consolas Bold" pitchFamily="34" charset="-120"/>
              </a:rPr>
              <a:t>name: Test Suiteon: [push, pull_request]jobs:  test:    strategy:      matrix:        os: [ubuntu-latest, windows-latest]        python: [3.9, 3.10, 3.11]    runs-on: ${{ matrix.os }}    steps:      - uses: actions/checkout@v3      - uses: actions/setup-python@v4      - run: pip install pytest pytest-html      - run: pytest --html=report.html      - uses: actions/upload-artifact@v3</a:t>
            </a:r>
            <a:endParaRPr lang="en-US" sz="1300" dirty="0"/>
          </a:p>
        </p:txBody>
      </p:sp>
      <p:sp>
        <p:nvSpPr>
          <p:cNvPr id="15" name="Text 13"/>
          <p:cNvSpPr/>
          <p:nvPr/>
        </p:nvSpPr>
        <p:spPr>
          <a:xfrm>
            <a:off x="7528560" y="6850618"/>
            <a:ext cx="6315670" cy="539829"/>
          </a:xfrm>
          <a:prstGeom prst="rect">
            <a:avLst/>
          </a:prstGeom>
          <a:noFill/>
          <a:ln/>
        </p:spPr>
        <p:txBody>
          <a:bodyPr wrap="square" lIns="0" tIns="0" rIns="0" bIns="0" rtlCol="0" anchor="t"/>
          <a:lstStyle/>
          <a:p>
            <a:pPr algn="l" indent="0" marL="0">
              <a:lnSpc>
                <a:spcPts val="2100"/>
              </a:lnSpc>
              <a:buNone/>
            </a:pPr>
            <a:r>
              <a:rPr lang="en-US" sz="1300" b="1" dirty="0">
                <a:solidFill>
                  <a:srgbClr val="030303"/>
                </a:solidFill>
                <a:latin typeface="Roboto Bold" pitchFamily="34" charset="0"/>
                <a:ea typeface="Roboto Bold" pitchFamily="34" charset="-122"/>
                <a:cs typeface="Roboto Bold" pitchFamily="34" charset="-120"/>
              </a:rPr>
              <a:t>This configuration tests your code across multiple operating systems and Python versions automatically.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2361" y="544711"/>
            <a:ext cx="4457343" cy="557213"/>
          </a:xfrm>
          <a:prstGeom prst="rect">
            <a:avLst/>
          </a:prstGeom>
          <a:noFill/>
          <a:ln/>
        </p:spPr>
        <p:txBody>
          <a:bodyPr wrap="none" lIns="0" tIns="0" rIns="0" bIns="0" rtlCol="0" anchor="t"/>
          <a:lstStyle/>
          <a:p>
            <a:pPr algn="l" indent="0" marL="0">
              <a:lnSpc>
                <a:spcPts val="4350"/>
              </a:lnSpc>
              <a:buNone/>
            </a:pPr>
            <a:r>
              <a:rPr lang="en-US" sz="3500" b="1" dirty="0">
                <a:solidFill>
                  <a:srgbClr val="030303"/>
                </a:solidFill>
                <a:latin typeface="Raleway Extra Bold" pitchFamily="34" charset="0"/>
                <a:ea typeface="Raleway Extra Bold" pitchFamily="34" charset="-122"/>
                <a:cs typeface="Raleway Extra Bold" pitchFamily="34" charset="-120"/>
              </a:rPr>
              <a:t>Key Takeaways</a:t>
            </a:r>
            <a:endParaRPr lang="en-US" sz="3500" dirty="0"/>
          </a:p>
        </p:txBody>
      </p:sp>
      <p:sp>
        <p:nvSpPr>
          <p:cNvPr id="3" name="Shape 1"/>
          <p:cNvSpPr/>
          <p:nvPr/>
        </p:nvSpPr>
        <p:spPr>
          <a:xfrm>
            <a:off x="792361" y="1458516"/>
            <a:ext cx="401122" cy="401122"/>
          </a:xfrm>
          <a:prstGeom prst="roundRect">
            <a:avLst>
              <a:gd name="adj" fmla="val 18669"/>
            </a:avLst>
          </a:prstGeom>
          <a:solidFill>
            <a:srgbClr val="E6E6E6"/>
          </a:solidFill>
          <a:ln w="7620">
            <a:solidFill>
              <a:srgbClr val="CCCCCC"/>
            </a:solidFill>
            <a:prstDash val="solid"/>
          </a:ln>
        </p:spPr>
      </p:sp>
      <p:sp>
        <p:nvSpPr>
          <p:cNvPr id="4" name="Text 2"/>
          <p:cNvSpPr/>
          <p:nvPr/>
        </p:nvSpPr>
        <p:spPr>
          <a:xfrm>
            <a:off x="1371719" y="1519714"/>
            <a:ext cx="2787968" cy="278606"/>
          </a:xfrm>
          <a:prstGeom prst="rect">
            <a:avLst/>
          </a:prstGeom>
          <a:noFill/>
          <a:ln/>
        </p:spPr>
        <p:txBody>
          <a:bodyPr wrap="none" lIns="0" tIns="0" rIns="0" bIns="0" rtlCol="0" anchor="t"/>
          <a:lstStyle/>
          <a:p>
            <a:pPr algn="l" indent="0" marL="0">
              <a:lnSpc>
                <a:spcPts val="2150"/>
              </a:lnSpc>
              <a:buNone/>
            </a:pPr>
            <a:r>
              <a:rPr lang="en-US" sz="1750" b="1" dirty="0">
                <a:solidFill>
                  <a:srgbClr val="030303"/>
                </a:solidFill>
                <a:latin typeface="Raleway Extra Bold" pitchFamily="34" charset="0"/>
                <a:ea typeface="Raleway Extra Bold" pitchFamily="34" charset="-122"/>
                <a:cs typeface="Raleway Extra Bold" pitchFamily="34" charset="-120"/>
              </a:rPr>
              <a:t>Python as Enterprise Glue</a:t>
            </a:r>
            <a:endParaRPr lang="en-US" sz="1750" dirty="0"/>
          </a:p>
        </p:txBody>
      </p:sp>
      <p:sp>
        <p:nvSpPr>
          <p:cNvPr id="5" name="Text 3"/>
          <p:cNvSpPr/>
          <p:nvPr/>
        </p:nvSpPr>
        <p:spPr>
          <a:xfrm>
            <a:off x="1371719" y="1905238"/>
            <a:ext cx="12466320" cy="570548"/>
          </a:xfrm>
          <a:prstGeom prst="rect">
            <a:avLst/>
          </a:prstGeom>
          <a:noFill/>
          <a:ln/>
        </p:spPr>
        <p:txBody>
          <a:bodyPr wrap="square" lIns="0" tIns="0" rIns="0" bIns="0" rtlCol="0" anchor="t"/>
          <a:lstStyle/>
          <a:p>
            <a:pPr algn="l" indent="0" marL="0">
              <a:lnSpc>
                <a:spcPts val="2200"/>
              </a:lnSpc>
              <a:buNone/>
            </a:pPr>
            <a:r>
              <a:rPr lang="en-US" sz="1400" b="1" dirty="0">
                <a:solidFill>
                  <a:srgbClr val="030303"/>
                </a:solidFill>
                <a:latin typeface="Roboto Bold" pitchFamily="34" charset="0"/>
                <a:ea typeface="Roboto Bold" pitchFamily="34" charset="-122"/>
                <a:cs typeface="Roboto Bold" pitchFamily="34" charset="-120"/>
              </a:rPr>
              <a:t>Python serves as the connective tissue in modern development workflows, bridging different languages, systems, and stages of the software lifecycle with elegance and efficiency.</a:t>
            </a:r>
            <a:endParaRPr lang="en-US" sz="1400" dirty="0"/>
          </a:p>
        </p:txBody>
      </p:sp>
      <p:sp>
        <p:nvSpPr>
          <p:cNvPr id="6" name="Shape 4"/>
          <p:cNvSpPr/>
          <p:nvPr/>
        </p:nvSpPr>
        <p:spPr>
          <a:xfrm>
            <a:off x="792361" y="2832378"/>
            <a:ext cx="401122" cy="401122"/>
          </a:xfrm>
          <a:prstGeom prst="roundRect">
            <a:avLst>
              <a:gd name="adj" fmla="val 18669"/>
            </a:avLst>
          </a:prstGeom>
          <a:solidFill>
            <a:srgbClr val="E6E6E6"/>
          </a:solidFill>
          <a:ln w="7620">
            <a:solidFill>
              <a:srgbClr val="CCCCCC"/>
            </a:solidFill>
            <a:prstDash val="solid"/>
          </a:ln>
        </p:spPr>
      </p:sp>
      <p:sp>
        <p:nvSpPr>
          <p:cNvPr id="7" name="Text 5"/>
          <p:cNvSpPr/>
          <p:nvPr/>
        </p:nvSpPr>
        <p:spPr>
          <a:xfrm>
            <a:off x="1371719" y="2893576"/>
            <a:ext cx="3563660" cy="278606"/>
          </a:xfrm>
          <a:prstGeom prst="rect">
            <a:avLst/>
          </a:prstGeom>
          <a:noFill/>
          <a:ln/>
        </p:spPr>
        <p:txBody>
          <a:bodyPr wrap="none" lIns="0" tIns="0" rIns="0" bIns="0" rtlCol="0" anchor="t"/>
          <a:lstStyle/>
          <a:p>
            <a:pPr algn="l" indent="0" marL="0">
              <a:lnSpc>
                <a:spcPts val="2150"/>
              </a:lnSpc>
              <a:buNone/>
            </a:pPr>
            <a:r>
              <a:rPr lang="en-US" sz="1750" b="1" dirty="0">
                <a:solidFill>
                  <a:srgbClr val="030303"/>
                </a:solidFill>
                <a:latin typeface="Raleway Extra Bold" pitchFamily="34" charset="0"/>
                <a:ea typeface="Raleway Extra Bold" pitchFamily="34" charset="-122"/>
                <a:cs typeface="Raleway Extra Bold" pitchFamily="34" charset="-120"/>
              </a:rPr>
              <a:t>Rapid POC Accelerates Decisions</a:t>
            </a:r>
            <a:endParaRPr lang="en-US" sz="1750" dirty="0"/>
          </a:p>
        </p:txBody>
      </p:sp>
      <p:sp>
        <p:nvSpPr>
          <p:cNvPr id="8" name="Text 6"/>
          <p:cNvSpPr/>
          <p:nvPr/>
        </p:nvSpPr>
        <p:spPr>
          <a:xfrm>
            <a:off x="1371719" y="3279100"/>
            <a:ext cx="12466320" cy="570548"/>
          </a:xfrm>
          <a:prstGeom prst="rect">
            <a:avLst/>
          </a:prstGeom>
          <a:noFill/>
          <a:ln/>
        </p:spPr>
        <p:txBody>
          <a:bodyPr wrap="square" lIns="0" tIns="0" rIns="0" bIns="0" rtlCol="0" anchor="t"/>
          <a:lstStyle/>
          <a:p>
            <a:pPr algn="l" indent="0" marL="0">
              <a:lnSpc>
                <a:spcPts val="2200"/>
              </a:lnSpc>
              <a:buNone/>
            </a:pPr>
            <a:r>
              <a:rPr lang="en-US" sz="1400" b="1" dirty="0">
                <a:solidFill>
                  <a:srgbClr val="030303"/>
                </a:solidFill>
                <a:latin typeface="Roboto Bold" pitchFamily="34" charset="0"/>
                <a:ea typeface="Roboto Bold" pitchFamily="34" charset="-122"/>
                <a:cs typeface="Roboto Bold" pitchFamily="34" charset="-120"/>
              </a:rPr>
              <a:t>Python's expressiveness enables fast prototyping that validates ideas quickly, reducing time-to-decision and minimizing investment in unproven approaches.</a:t>
            </a:r>
            <a:endParaRPr lang="en-US" sz="1400" dirty="0"/>
          </a:p>
        </p:txBody>
      </p:sp>
      <p:sp>
        <p:nvSpPr>
          <p:cNvPr id="9" name="Shape 7"/>
          <p:cNvSpPr/>
          <p:nvPr/>
        </p:nvSpPr>
        <p:spPr>
          <a:xfrm>
            <a:off x="792361" y="4206240"/>
            <a:ext cx="401122" cy="401122"/>
          </a:xfrm>
          <a:prstGeom prst="roundRect">
            <a:avLst>
              <a:gd name="adj" fmla="val 18669"/>
            </a:avLst>
          </a:prstGeom>
          <a:solidFill>
            <a:srgbClr val="E6E6E6"/>
          </a:solidFill>
          <a:ln w="7620">
            <a:solidFill>
              <a:srgbClr val="CCCCCC"/>
            </a:solidFill>
            <a:prstDash val="solid"/>
          </a:ln>
        </p:spPr>
      </p:sp>
      <p:sp>
        <p:nvSpPr>
          <p:cNvPr id="10" name="Text 8"/>
          <p:cNvSpPr/>
          <p:nvPr/>
        </p:nvSpPr>
        <p:spPr>
          <a:xfrm>
            <a:off x="1371719" y="4267438"/>
            <a:ext cx="2904053" cy="278606"/>
          </a:xfrm>
          <a:prstGeom prst="rect">
            <a:avLst/>
          </a:prstGeom>
          <a:noFill/>
          <a:ln/>
        </p:spPr>
        <p:txBody>
          <a:bodyPr wrap="none" lIns="0" tIns="0" rIns="0" bIns="0" rtlCol="0" anchor="t"/>
          <a:lstStyle/>
          <a:p>
            <a:pPr algn="l" indent="0" marL="0">
              <a:lnSpc>
                <a:spcPts val="2150"/>
              </a:lnSpc>
              <a:buNone/>
            </a:pPr>
            <a:r>
              <a:rPr lang="en-US" sz="1750" b="1" dirty="0">
                <a:solidFill>
                  <a:srgbClr val="030303"/>
                </a:solidFill>
                <a:latin typeface="Raleway Extra Bold" pitchFamily="34" charset="0"/>
                <a:ea typeface="Raleway Extra Bold" pitchFamily="34" charset="-122"/>
                <a:cs typeface="Raleway Extra Bold" pitchFamily="34" charset="-120"/>
              </a:rPr>
              <a:t>Strong Testing Capabilities</a:t>
            </a:r>
            <a:endParaRPr lang="en-US" sz="1750" dirty="0"/>
          </a:p>
        </p:txBody>
      </p:sp>
      <p:sp>
        <p:nvSpPr>
          <p:cNvPr id="11" name="Text 9"/>
          <p:cNvSpPr/>
          <p:nvPr/>
        </p:nvSpPr>
        <p:spPr>
          <a:xfrm>
            <a:off x="1371719" y="4652963"/>
            <a:ext cx="12466320" cy="285274"/>
          </a:xfrm>
          <a:prstGeom prst="rect">
            <a:avLst/>
          </a:prstGeom>
          <a:noFill/>
          <a:ln/>
        </p:spPr>
        <p:txBody>
          <a:bodyPr wrap="none" lIns="0" tIns="0" rIns="0" bIns="0" rtlCol="0" anchor="t"/>
          <a:lstStyle/>
          <a:p>
            <a:pPr algn="l" indent="0" marL="0">
              <a:lnSpc>
                <a:spcPts val="2200"/>
              </a:lnSpc>
              <a:buNone/>
            </a:pPr>
            <a:r>
              <a:rPr lang="en-US" sz="1400" b="1" dirty="0">
                <a:solidFill>
                  <a:srgbClr val="030303"/>
                </a:solidFill>
                <a:latin typeface="Roboto Bold" pitchFamily="34" charset="0"/>
                <a:ea typeface="Roboto Bold" pitchFamily="34" charset="-122"/>
                <a:cs typeface="Roboto Bold" pitchFamily="34" charset="-120"/>
              </a:rPr>
              <a:t>Python's testing ecosystem supports cross-language validation, enabling polyglot architectures while maintaining quality through unified test suites.</a:t>
            </a:r>
            <a:endParaRPr lang="en-US" sz="1400" dirty="0"/>
          </a:p>
        </p:txBody>
      </p:sp>
      <p:sp>
        <p:nvSpPr>
          <p:cNvPr id="12" name="Shape 10"/>
          <p:cNvSpPr/>
          <p:nvPr/>
        </p:nvSpPr>
        <p:spPr>
          <a:xfrm>
            <a:off x="792361" y="5294828"/>
            <a:ext cx="401122" cy="401122"/>
          </a:xfrm>
          <a:prstGeom prst="roundRect">
            <a:avLst>
              <a:gd name="adj" fmla="val 18669"/>
            </a:avLst>
          </a:prstGeom>
          <a:solidFill>
            <a:srgbClr val="E6E6E6"/>
          </a:solidFill>
          <a:ln w="7620">
            <a:solidFill>
              <a:srgbClr val="CCCCCC"/>
            </a:solidFill>
            <a:prstDash val="solid"/>
          </a:ln>
        </p:spPr>
      </p:sp>
      <p:sp>
        <p:nvSpPr>
          <p:cNvPr id="13" name="Text 11"/>
          <p:cNvSpPr/>
          <p:nvPr/>
        </p:nvSpPr>
        <p:spPr>
          <a:xfrm>
            <a:off x="1371719" y="5356027"/>
            <a:ext cx="2985135" cy="278606"/>
          </a:xfrm>
          <a:prstGeom prst="rect">
            <a:avLst/>
          </a:prstGeom>
          <a:noFill/>
          <a:ln/>
        </p:spPr>
        <p:txBody>
          <a:bodyPr wrap="none" lIns="0" tIns="0" rIns="0" bIns="0" rtlCol="0" anchor="t"/>
          <a:lstStyle/>
          <a:p>
            <a:pPr algn="l" indent="0" marL="0">
              <a:lnSpc>
                <a:spcPts val="2150"/>
              </a:lnSpc>
              <a:buNone/>
            </a:pPr>
            <a:r>
              <a:rPr lang="en-US" sz="1750" b="1" dirty="0">
                <a:solidFill>
                  <a:srgbClr val="030303"/>
                </a:solidFill>
                <a:latin typeface="Raleway Extra Bold" pitchFamily="34" charset="0"/>
                <a:ea typeface="Raleway Extra Bold" pitchFamily="34" charset="-122"/>
                <a:cs typeface="Raleway Extra Bold" pitchFamily="34" charset="-120"/>
              </a:rPr>
              <a:t>Data Processing Excellence</a:t>
            </a:r>
            <a:endParaRPr lang="en-US" sz="1750" dirty="0"/>
          </a:p>
        </p:txBody>
      </p:sp>
      <p:sp>
        <p:nvSpPr>
          <p:cNvPr id="14" name="Text 12"/>
          <p:cNvSpPr/>
          <p:nvPr/>
        </p:nvSpPr>
        <p:spPr>
          <a:xfrm>
            <a:off x="1371719" y="5741551"/>
            <a:ext cx="12466320" cy="570548"/>
          </a:xfrm>
          <a:prstGeom prst="rect">
            <a:avLst/>
          </a:prstGeom>
          <a:noFill/>
          <a:ln/>
        </p:spPr>
        <p:txBody>
          <a:bodyPr wrap="square" lIns="0" tIns="0" rIns="0" bIns="0" rtlCol="0" anchor="t"/>
          <a:lstStyle/>
          <a:p>
            <a:pPr algn="l" indent="0" marL="0">
              <a:lnSpc>
                <a:spcPts val="2200"/>
              </a:lnSpc>
              <a:buNone/>
            </a:pPr>
            <a:r>
              <a:rPr lang="en-US" sz="1400" b="1" dirty="0">
                <a:solidFill>
                  <a:srgbClr val="030303"/>
                </a:solidFill>
                <a:latin typeface="Roboto Bold" pitchFamily="34" charset="0"/>
                <a:ea typeface="Roboto Bold" pitchFamily="34" charset="-122"/>
                <a:cs typeface="Roboto Bold" pitchFamily="34" charset="-120"/>
              </a:rPr>
              <a:t>Python excels at analysis, validation, and problem identification through its rich ecosystem of data science libraries and interactive development environments.</a:t>
            </a:r>
            <a:endParaRPr lang="en-US" sz="1400" dirty="0"/>
          </a:p>
        </p:txBody>
      </p:sp>
      <p:sp>
        <p:nvSpPr>
          <p:cNvPr id="15" name="Shape 13"/>
          <p:cNvSpPr/>
          <p:nvPr/>
        </p:nvSpPr>
        <p:spPr>
          <a:xfrm>
            <a:off x="792361" y="6668691"/>
            <a:ext cx="401122" cy="401122"/>
          </a:xfrm>
          <a:prstGeom prst="roundRect">
            <a:avLst>
              <a:gd name="adj" fmla="val 18669"/>
            </a:avLst>
          </a:prstGeom>
          <a:solidFill>
            <a:srgbClr val="E6E6E6"/>
          </a:solidFill>
          <a:ln w="7620">
            <a:solidFill>
              <a:srgbClr val="CCCCCC"/>
            </a:solidFill>
            <a:prstDash val="solid"/>
          </a:ln>
        </p:spPr>
      </p:sp>
      <p:sp>
        <p:nvSpPr>
          <p:cNvPr id="16" name="Text 14"/>
          <p:cNvSpPr/>
          <p:nvPr/>
        </p:nvSpPr>
        <p:spPr>
          <a:xfrm>
            <a:off x="1371719" y="6729889"/>
            <a:ext cx="3137297" cy="278606"/>
          </a:xfrm>
          <a:prstGeom prst="rect">
            <a:avLst/>
          </a:prstGeom>
          <a:noFill/>
          <a:ln/>
        </p:spPr>
        <p:txBody>
          <a:bodyPr wrap="none" lIns="0" tIns="0" rIns="0" bIns="0" rtlCol="0" anchor="t"/>
          <a:lstStyle/>
          <a:p>
            <a:pPr algn="l" indent="0" marL="0">
              <a:lnSpc>
                <a:spcPts val="2150"/>
              </a:lnSpc>
              <a:buNone/>
            </a:pPr>
            <a:r>
              <a:rPr lang="en-US" sz="1750" b="1" dirty="0">
                <a:solidFill>
                  <a:srgbClr val="030303"/>
                </a:solidFill>
                <a:latin typeface="Raleway Extra Bold" pitchFamily="34" charset="0"/>
                <a:ea typeface="Raleway Extra Bold" pitchFamily="34" charset="-122"/>
                <a:cs typeface="Raleway Extra Bold" pitchFamily="34" charset="-120"/>
              </a:rPr>
              <a:t>DevOps Lifecycle Integration</a:t>
            </a:r>
            <a:endParaRPr lang="en-US" sz="1750" dirty="0"/>
          </a:p>
        </p:txBody>
      </p:sp>
      <p:sp>
        <p:nvSpPr>
          <p:cNvPr id="17" name="Text 15"/>
          <p:cNvSpPr/>
          <p:nvPr/>
        </p:nvSpPr>
        <p:spPr>
          <a:xfrm>
            <a:off x="1371719" y="7115413"/>
            <a:ext cx="12466320" cy="570548"/>
          </a:xfrm>
          <a:prstGeom prst="rect">
            <a:avLst/>
          </a:prstGeom>
          <a:noFill/>
          <a:ln/>
        </p:spPr>
        <p:txBody>
          <a:bodyPr wrap="square" lIns="0" tIns="0" rIns="0" bIns="0" rtlCol="0" anchor="t"/>
          <a:lstStyle/>
          <a:p>
            <a:pPr algn="l" indent="0" marL="0">
              <a:lnSpc>
                <a:spcPts val="2200"/>
              </a:lnSpc>
              <a:buNone/>
            </a:pPr>
            <a:r>
              <a:rPr lang="en-US" sz="1400" b="1" dirty="0">
                <a:solidFill>
                  <a:srgbClr val="030303"/>
                </a:solidFill>
                <a:latin typeface="Roboto Bold" pitchFamily="34" charset="0"/>
                <a:ea typeface="Roboto Bold" pitchFamily="34" charset="-122"/>
                <a:cs typeface="Roboto Bold" pitchFamily="34" charset="-120"/>
              </a:rPr>
              <a:t>Python has a clear, valuable role at every stage of the DevOps lifecycle, from planning through feedback, making it indispensable for modern software teams.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873687"/>
            <a:ext cx="8056245"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Python: Your DevOps Superpower</a:t>
            </a:r>
            <a:endParaRPr lang="en-US" sz="3900" dirty="0"/>
          </a:p>
        </p:txBody>
      </p:sp>
      <p:sp>
        <p:nvSpPr>
          <p:cNvPr id="3" name="Text 1"/>
          <p:cNvSpPr/>
          <p:nvPr/>
        </p:nvSpPr>
        <p:spPr>
          <a:xfrm>
            <a:off x="793790" y="2989778"/>
            <a:ext cx="3660338" cy="372070"/>
          </a:xfrm>
          <a:prstGeom prst="rect">
            <a:avLst/>
          </a:prstGeom>
          <a:noFill/>
          <a:ln/>
        </p:spPr>
        <p:txBody>
          <a:bodyPr wrap="none" lIns="0" tIns="0" rIns="0" bIns="0" rtlCol="0" anchor="t"/>
          <a:lstStyle/>
          <a:p>
            <a:pPr algn="l" indent="0" marL="0">
              <a:lnSpc>
                <a:spcPts val="2900"/>
              </a:lnSpc>
              <a:buNone/>
            </a:pPr>
            <a:r>
              <a:rPr lang="en-US" sz="2300" b="1" dirty="0">
                <a:solidFill>
                  <a:srgbClr val="030303"/>
                </a:solidFill>
                <a:latin typeface="Raleway Extra Bold" pitchFamily="34" charset="0"/>
                <a:ea typeface="Raleway Extra Bold" pitchFamily="34" charset="-122"/>
                <a:cs typeface="Raleway Extra Bold" pitchFamily="34" charset="-120"/>
              </a:rPr>
              <a:t>Transform Your Workflow</a:t>
            </a:r>
            <a:endParaRPr lang="en-US" sz="2300" dirty="0"/>
          </a:p>
        </p:txBody>
      </p:sp>
      <p:sp>
        <p:nvSpPr>
          <p:cNvPr id="4" name="Text 2"/>
          <p:cNvSpPr/>
          <p:nvPr/>
        </p:nvSpPr>
        <p:spPr>
          <a:xfrm>
            <a:off x="793790" y="3560207"/>
            <a:ext cx="6279356" cy="127015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Python isn't just another programming language—it's a strategic advantage in modern software development. Its versatility, ecosystem, and ease of use make it the ideal choice for bridging gaps, accelerating delivery, and ensuring quality.</a:t>
            </a:r>
            <a:endParaRPr lang="en-US" sz="1550" dirty="0"/>
          </a:p>
        </p:txBody>
      </p:sp>
      <p:sp>
        <p:nvSpPr>
          <p:cNvPr id="5" name="Text 3"/>
          <p:cNvSpPr/>
          <p:nvPr/>
        </p:nvSpPr>
        <p:spPr>
          <a:xfrm>
            <a:off x="793790" y="5008959"/>
            <a:ext cx="6279356" cy="95261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Whether you're prototyping new features, automating tedious tasks, testing complex systems, or analyzing production data, Python provides the tools and flexibility you need to excel.</a:t>
            </a:r>
            <a:endParaRPr lang="en-US" sz="1550" dirty="0"/>
          </a:p>
        </p:txBody>
      </p:sp>
      <p:sp>
        <p:nvSpPr>
          <p:cNvPr id="6" name="Text 4"/>
          <p:cNvSpPr/>
          <p:nvPr/>
        </p:nvSpPr>
        <p:spPr>
          <a:xfrm>
            <a:off x="7564874" y="2989778"/>
            <a:ext cx="2588776" cy="310158"/>
          </a:xfrm>
          <a:prstGeom prst="rect">
            <a:avLst/>
          </a:prstGeom>
          <a:noFill/>
          <a:ln/>
        </p:spPr>
        <p:txBody>
          <a:bodyPr wrap="none" lIns="0" tIns="0" rIns="0" bIns="0" rtlCol="0" anchor="t"/>
          <a:lstStyle/>
          <a:p>
            <a:pPr algn="l" indent="0" marL="0">
              <a:lnSpc>
                <a:spcPts val="2400"/>
              </a:lnSpc>
              <a:buNone/>
            </a:pPr>
            <a:r>
              <a:rPr lang="en-US" sz="1950" b="1" dirty="0">
                <a:solidFill>
                  <a:srgbClr val="030303"/>
                </a:solidFill>
                <a:latin typeface="Raleway Extra Bold" pitchFamily="34" charset="0"/>
                <a:ea typeface="Raleway Extra Bold" pitchFamily="34" charset="-122"/>
                <a:cs typeface="Raleway Extra Bold" pitchFamily="34" charset="-120"/>
              </a:rPr>
              <a:t>Start Small, Scale Big</a:t>
            </a:r>
            <a:endParaRPr lang="en-US" sz="1950" dirty="0"/>
          </a:p>
        </p:txBody>
      </p:sp>
      <p:sp>
        <p:nvSpPr>
          <p:cNvPr id="7" name="Text 5"/>
          <p:cNvSpPr/>
          <p:nvPr/>
        </p:nvSpPr>
        <p:spPr>
          <a:xfrm>
            <a:off x="7564874" y="349829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Begin with simple automation scripts</a:t>
            </a:r>
            <a:endParaRPr lang="en-US" sz="1550" dirty="0"/>
          </a:p>
        </p:txBody>
      </p:sp>
      <p:sp>
        <p:nvSpPr>
          <p:cNvPr id="8" name="Text 6"/>
          <p:cNvSpPr/>
          <p:nvPr/>
        </p:nvSpPr>
        <p:spPr>
          <a:xfrm>
            <a:off x="7564874" y="38852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Expand to data analysis notebooks</a:t>
            </a:r>
            <a:endParaRPr lang="en-US" sz="1550" dirty="0"/>
          </a:p>
        </p:txBody>
      </p:sp>
      <p:sp>
        <p:nvSpPr>
          <p:cNvPr id="9" name="Text 7"/>
          <p:cNvSpPr/>
          <p:nvPr/>
        </p:nvSpPr>
        <p:spPr>
          <a:xfrm>
            <a:off x="7564874" y="427220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Build comprehensive test suites</a:t>
            </a:r>
            <a:endParaRPr lang="en-US" sz="1550" dirty="0"/>
          </a:p>
        </p:txBody>
      </p:sp>
      <p:sp>
        <p:nvSpPr>
          <p:cNvPr id="10" name="Text 8"/>
          <p:cNvSpPr/>
          <p:nvPr/>
        </p:nvSpPr>
        <p:spPr>
          <a:xfrm>
            <a:off x="7564874" y="4659154"/>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Create CI/CD pipelines</a:t>
            </a:r>
            <a:endParaRPr lang="en-US" sz="1550" dirty="0"/>
          </a:p>
        </p:txBody>
      </p:sp>
      <p:sp>
        <p:nvSpPr>
          <p:cNvPr id="11" name="Text 9"/>
          <p:cNvSpPr/>
          <p:nvPr/>
        </p:nvSpPr>
        <p:spPr>
          <a:xfrm>
            <a:off x="7564874" y="504610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30303"/>
                </a:solidFill>
                <a:latin typeface="Roboto Bold" pitchFamily="34" charset="0"/>
                <a:ea typeface="Roboto Bold" pitchFamily="34" charset="-122"/>
                <a:cs typeface="Roboto Bold" pitchFamily="34" charset="-120"/>
              </a:rPr>
              <a:t>Develop internal tools and dashboards</a:t>
            </a:r>
            <a:endParaRPr lang="en-US" sz="1550" dirty="0"/>
          </a:p>
        </p:txBody>
      </p:sp>
      <p:sp>
        <p:nvSpPr>
          <p:cNvPr id="12" name="Text 10"/>
          <p:cNvSpPr/>
          <p:nvPr/>
        </p:nvSpPr>
        <p:spPr>
          <a:xfrm>
            <a:off x="7564874" y="5542240"/>
            <a:ext cx="6279356" cy="635079"/>
          </a:xfrm>
          <a:prstGeom prst="rect">
            <a:avLst/>
          </a:prstGeom>
          <a:noFill/>
          <a:ln/>
        </p:spPr>
        <p:txBody>
          <a:bodyPr wrap="square" lIns="0" tIns="0" rIns="0" bIns="0" rtlCol="0" anchor="t"/>
          <a:lstStyle/>
          <a:p>
            <a:pPr algn="l"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Each small step compounds into significant productivity gains for your team and organization.</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3447574"/>
            <a:ext cx="4961811" cy="620078"/>
          </a:xfrm>
          <a:prstGeom prst="rect">
            <a:avLst/>
          </a:prstGeom>
          <a:noFill/>
          <a:ln/>
        </p:spPr>
        <p:txBody>
          <a:bodyPr wrap="none" lIns="0" tIns="0" rIns="0" bIns="0" rtlCol="0" anchor="t"/>
          <a:lstStyle/>
          <a:p>
            <a:pPr algn="l" indent="0" marL="0">
              <a:lnSpc>
                <a:spcPts val="4850"/>
              </a:lnSpc>
              <a:buNone/>
            </a:pPr>
            <a:r>
              <a:rPr lang="en-US" sz="3900" b="1" dirty="0">
                <a:solidFill>
                  <a:srgbClr val="030303"/>
                </a:solidFill>
                <a:latin typeface="Raleway Extra Bold" pitchFamily="34" charset="0"/>
                <a:ea typeface="Raleway Extra Bold" pitchFamily="34" charset="-122"/>
                <a:cs typeface="Raleway Extra Bold" pitchFamily="34" charset="-120"/>
              </a:rPr>
              <a:t>Q&amp;A and Discussion</a:t>
            </a:r>
            <a:endParaRPr lang="en-US" sz="3900" dirty="0"/>
          </a:p>
        </p:txBody>
      </p:sp>
      <p:sp>
        <p:nvSpPr>
          <p:cNvPr id="3" name="Text 1"/>
          <p:cNvSpPr/>
          <p:nvPr/>
        </p:nvSpPr>
        <p:spPr>
          <a:xfrm>
            <a:off x="793790" y="4464487"/>
            <a:ext cx="13042821" cy="317540"/>
          </a:xfrm>
          <a:prstGeom prst="rect">
            <a:avLst/>
          </a:prstGeom>
          <a:noFill/>
          <a:ln/>
        </p:spPr>
        <p:txBody>
          <a:bodyPr wrap="none" lIns="0" tIns="0" rIns="0" bIns="0" rtlCol="0" anchor="t"/>
          <a:lstStyle/>
          <a:p>
            <a:pPr algn="ctr" indent="0" marL="0">
              <a:lnSpc>
                <a:spcPts val="2500"/>
              </a:lnSpc>
              <a:buNone/>
            </a:pPr>
            <a:r>
              <a:rPr lang="en-US" sz="1550" b="1" dirty="0">
                <a:solidFill>
                  <a:srgbClr val="030303"/>
                </a:solidFill>
                <a:latin typeface="Roboto Bold" pitchFamily="34" charset="0"/>
                <a:ea typeface="Roboto Bold" pitchFamily="34" charset="-122"/>
                <a:cs typeface="Roboto Bold" pitchFamily="34" charset="-120"/>
              </a:rPr>
              <a:t>Thank you for your time and attention!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2025-12-01T15:10:02Z</dcterms:created>
  <dcterms:modified xsi:type="dcterms:W3CDTF">2025-12-01T15:10:02Z</dcterms:modified>
</cp:coreProperties>
</file>